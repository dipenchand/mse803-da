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9de3c5dfe44f92" /><Relationship Type="http://schemas.openxmlformats.org/officeDocument/2006/relationships/extended-properties" Target="/docProps/app.xml" Id="Re22ae05ed0f442ba" /><Relationship Type="http://schemas.openxmlformats.org/officeDocument/2006/relationships/officeDocument" Target="/ppt/presentation.xml" Id="R375c9dde113e41f7" /></Relationships>
</file>

<file path=ppt/presentation.xml><?xml version="1.0" encoding="utf-8"?>
<p:presentation xmlns:p="http://schemas.openxmlformats.org/presentationml/2006/main">
  <p:sldMasterIdLst>
    <p:sldMasterId xmlns:r="http://schemas.openxmlformats.org/officeDocument/2006/relationships" id="2147483648" r:id="R6e267cd8f17649cf"/>
  </p:sldMasterIdLst>
  <p:notesMasterIdLst>
    <p:notesMasterId xmlns:r="http://schemas.openxmlformats.org/officeDocument/2006/relationships" r:id="R3dd7c5f2ec0b493b"/>
  </p:notesMasterIdLst>
  <p:sldIdLst>
    <p:sldId xmlns:r="http://schemas.openxmlformats.org/officeDocument/2006/relationships" id="256" r:id="Rf6a6333ec5d84b61"/>
    <p:sldId xmlns:r="http://schemas.openxmlformats.org/officeDocument/2006/relationships" id="257" r:id="R931b6cab120a4ae4"/>
    <p:sldId xmlns:r="http://schemas.openxmlformats.org/officeDocument/2006/relationships" id="258" r:id="Redef5fe69726447e"/>
    <p:sldId xmlns:r="http://schemas.openxmlformats.org/officeDocument/2006/relationships" id="259" r:id="Rd60a9ff3d639452f"/>
    <p:sldId xmlns:r="http://schemas.openxmlformats.org/officeDocument/2006/relationships" id="260" r:id="R37074f51b6aa4ce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e267cd8f17649cf" /><Relationship Type="http://schemas.openxmlformats.org/officeDocument/2006/relationships/theme" Target="/ppt/theme/theme1.xml" Id="Rf9075edfc8ed4116" /><Relationship Type="http://schemas.openxmlformats.org/officeDocument/2006/relationships/notesMaster" Target="/ppt/notesMasters/notesMaster1.xml" Id="R3dd7c5f2ec0b493b" /><Relationship Type="http://schemas.openxmlformats.org/officeDocument/2006/relationships/presProps" Target="/ppt/presProps.xml" Id="R16067289d3d34995" /><Relationship Type="http://schemas.openxmlformats.org/officeDocument/2006/relationships/viewProps" Target="/ppt/viewProps.xml" Id="Rc5c0e65301e7414a" /><Relationship Type="http://schemas.openxmlformats.org/officeDocument/2006/relationships/tableStyles" Target="/ppt/tableStyles.xml" Id="R8dd549afbbca420a" /><Relationship Type="http://schemas.openxmlformats.org/officeDocument/2006/relationships/slide" Target="/ppt/slides/slide1.xml" Id="Rf6a6333ec5d84b61" /><Relationship Type="http://schemas.openxmlformats.org/officeDocument/2006/relationships/slide" Target="/ppt/slides/slide2.xml" Id="R931b6cab120a4ae4" /><Relationship Type="http://schemas.openxmlformats.org/officeDocument/2006/relationships/slide" Target="/ppt/slides/slide3.xml" Id="Redef5fe69726447e" /><Relationship Type="http://schemas.openxmlformats.org/officeDocument/2006/relationships/slide" Target="/ppt/slides/slide4.xml" Id="Rd60a9ff3d639452f" /><Relationship Type="http://schemas.openxmlformats.org/officeDocument/2006/relationships/slide" Target="/ppt/slides/slide5.xml" Id="R37074f51b6aa4c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ecdb6070eee40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2350590f1c4e08" /><Relationship Type="http://schemas.openxmlformats.org/officeDocument/2006/relationships/notesMaster" Target="/ppt/notesMasters/notesMaster1.xml" Id="R82f31252d34547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760873dff84746" /><Relationship Type="http://schemas.openxmlformats.org/officeDocument/2006/relationships/notesMaster" Target="/ppt/notesMasters/notesMaster1.xml" Id="R4fe72c457bbb4f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ba84cff74a4c34" /><Relationship Type="http://schemas.openxmlformats.org/officeDocument/2006/relationships/notesMaster" Target="/ppt/notesMasters/notesMaster1.xml" Id="R9729a8cab96b47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0df94ba1f4ad4" /><Relationship Type="http://schemas.openxmlformats.org/officeDocument/2006/relationships/notesMaster" Target="/ppt/notesMasters/notesMaster1.xml" Id="R472dfa43a50a46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aa3c3f9b3b48ac" /><Relationship Type="http://schemas.openxmlformats.org/officeDocument/2006/relationships/notesMaster" Target="/ppt/notesMasters/notesMaster1.xml" Id="Rc343295f42ed4b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story from the Housing Prices dataset. We have 545 homes and no missing values, so it is a clean snapshot for an initial read. The question is simple: what seems to push a house into the premium price tier? Because the dataset has no date or explicit location field, this story is about structural price drivers rather than trend analysis over time.</a:t>
            </a:r>
          </a:p>
          <a:p xmlns:a="http://schemas.openxmlformats.org/drawingml/2006/main">
            <a:r>
              <a:t/>
            </a:r>
          </a:p>
          <a:p xmlns:a="http://schemas.openxmlformats.org/drawingml/2006/main">
            <a:r>
              <a:t>[Sources]</a:t>
            </a:r>
          </a:p>
          <a:p xmlns:a="http://schemas.openxmlformats.org/drawingml/2006/main">
            <a:r>
              <a:t>- Housing.xlsx dataset with 545 records; summary metrics and charts generated from housing_story_project/analyze_housing.py.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shape of the market. The median home price is 4.34 million, the upper quartile begins at 5.74 million, and the top ten percent starts at 7.35 million. So this market is not flat; it has a visible premium tier. That gives us a simple question for the next slides: what separates mid-market homes from top-end homes?</a:t>
            </a:r>
          </a:p>
          <a:p xmlns:a="http://schemas.openxmlformats.org/drawingml/2006/main">
            <a:r>
              <a:t/>
            </a:r>
          </a:p>
          <a:p xmlns:a="http://schemas.openxmlformats.org/drawingml/2006/main">
            <a:r>
              <a:t>[Sources]</a:t>
            </a:r>
          </a:p>
          <a:p xmlns:a="http://schemas.openxmlformats.org/drawingml/2006/main">
            <a:r>
              <a:t>- Housing.xlsx dataset with 545 records; summary metrics and charts generated from housing_story_project/analyze_housing.py.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Area is the strongest numeric driver in the dataset, and bathrooms are almost as influential. Mean price rises from about 3.54 million in the smallest area quartile to 6.22 million in the largest quartile. That tells us space and layout set the base value. In other words, homes start earning price through usable scale before premium features even come into the picture.</a:t>
            </a:r>
          </a:p>
          <a:p xmlns:a="http://schemas.openxmlformats.org/drawingml/2006/main">
            <a:r>
              <a:t/>
            </a:r>
          </a:p>
          <a:p xmlns:a="http://schemas.openxmlformats.org/drawingml/2006/main">
            <a:r>
              <a:t>[Sources]</a:t>
            </a:r>
          </a:p>
          <a:p xmlns:a="http://schemas.openxmlformats.org/drawingml/2006/main">
            <a:r>
              <a:t>- Housing.xlsx dataset with 545 records; summary metrics and charts generated from housing_story_project/analyze_housing.py.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base value is set, convenience features widen the premium gap. Homes with air conditioning average about 43 percent higher prices, preferred-area homes about 33 percent higher, and main-road access about 47 percent higher. Furnishing status supports the same pattern, with furnished homes showing a much higher median than unfurnished homes. That suggests premium prices come from a bundle of comfort, accessibility, and presentation.</a:t>
            </a:r>
          </a:p>
          <a:p xmlns:a="http://schemas.openxmlformats.org/drawingml/2006/main">
            <a:r>
              <a:t/>
            </a:r>
          </a:p>
          <a:p xmlns:a="http://schemas.openxmlformats.org/drawingml/2006/main">
            <a:r>
              <a:t>[Sources]</a:t>
            </a:r>
          </a:p>
          <a:p xmlns:a="http://schemas.openxmlformats.org/drawingml/2006/main">
            <a:r>
              <a:t>- Housing.xlsx dataset with 545 records; summary metrics and charts generated from housing_story_project/analyze_housing.py.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pricing story is that housing prices behave like a ladder. Size and bathrooms establish the lower rungs, then comfort and access signals lift homes into premium tiers. A simple all-features linear read explains about 68 percent of price variation, which is strong for a first pass but not enough for final valuation. The next step is to add date and location detail so the analysis can move from storytelling to more precise prediction.</a:t>
            </a:r>
          </a:p>
          <a:p xmlns:a="http://schemas.openxmlformats.org/drawingml/2006/main">
            <a:r>
              <a:t/>
            </a:r>
          </a:p>
          <a:p xmlns:a="http://schemas.openxmlformats.org/drawingml/2006/main">
            <a:r>
              <a:t>[Sources]</a:t>
            </a:r>
          </a:p>
          <a:p xmlns:a="http://schemas.openxmlformats.org/drawingml/2006/main">
            <a:r>
              <a:t>- Housing.xlsx dataset with 545 records; summary metrics and charts generated from housing_story_project/analyze_housing.py.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aaf080ac9f4cfb"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B1473DC4-7BA2-4BC2-8DEB-B6A6C6D18601}"/>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3E772285-3C8B-4EA7-A6F8-50D93EA1D759}"/>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D0EAB46B-06AD-4E42-8B44-6F20A790C010}"/>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46B34C7C-82D9-47F5-8863-18B02216FBD0}"/>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F68454A6-34CC-4712-8DEC-0DFFCC595BC8}"/>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09f3e7b8202413f" /><Relationship Type="http://schemas.openxmlformats.org/officeDocument/2006/relationships/slideLayout" Target="/ppt/slideLayouts/slideLayout2.xml" Id="Rfe91a611a72e41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E0B5F10B-3869-4128-A4B3-5E09DCAD02C6}"/>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91a611a72e41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6b6f2c7e43914711" /><Relationship Type="http://schemas.openxmlformats.org/officeDocument/2006/relationships/notesSlide" Target="/ppt/notesSlides/notesSlide1.xml" Id="R52749759c9864e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827efae6ed84518" /><Relationship Type="http://schemas.openxmlformats.org/officeDocument/2006/relationships/image" Target="/ppt/media/image.png" Id="R9b471ec0e3b044a0" /><Relationship Type="http://schemas.openxmlformats.org/officeDocument/2006/relationships/notesSlide" Target="/ppt/notesSlides/notesSlide2.xml" Id="R04b58eeb1344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5e82d520d0e44dc" /><Relationship Type="http://schemas.openxmlformats.org/officeDocument/2006/relationships/image" Target="/ppt/media/image2.png" Id="R1c78ae8d47b24a5f" /><Relationship Type="http://schemas.openxmlformats.org/officeDocument/2006/relationships/notesSlide" Target="/ppt/notesSlides/notesSlide3.xml" Id="R0d4d766def1649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25724e01e574345" /><Relationship Type="http://schemas.openxmlformats.org/officeDocument/2006/relationships/image" Target="/ppt/media/image3.png" Id="Ra16ebfb771424b14" /><Relationship Type="http://schemas.openxmlformats.org/officeDocument/2006/relationships/notesSlide" Target="/ppt/notesSlides/notesSlide4.xml" Id="R32dee787e042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9429a5f2c79418e" /><Relationship Type="http://schemas.openxmlformats.org/officeDocument/2006/relationships/notesSlide" Target="/ppt/notesSlides/notesSlide5.xml" Id="R4574db08a25940a0" /></Relationships>
</file>

<file path=ppt/slides/slide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68454A6-34CC-4712-8DEC-0DFFCC595BC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CCED4BA-E221-471E-A19C-B7FD89FD82F4}"/>
              </a:ext>
            </a:extLst>
          </p:cNvPr>
          <p:cNvSpPr>
            <a:spLocks xmlns:a="http://schemas.openxmlformats.org/drawingml/2006/main" noGrp="1"/>
          </p:cNvSpPr>
          <p:nvPr/>
        </p:nvSpPr>
        <p:spPr>
          <a:xfrm xmlns:a="http://schemas.openxmlformats.org/drawingml/2006/main">
            <a:off x="9334500" y="-762000"/>
            <a:ext cx="3048000" cy="3048000"/>
          </a:xfrm>
          <a:prstGeom xmlns:a="http://schemas.openxmlformats.org/drawingml/2006/main" prst="ellipse">
            <a:avLst/>
          </a:prstGeom>
          <a:solidFill xmlns:a="http://schemas.openxmlformats.org/drawingml/2006/main">
            <a:srgbClr val="E4F3E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425B72-F050-472A-A8D1-EC1CB3E9EC68}"/>
              </a:ext>
            </a:extLst>
          </p:cNvPr>
          <p:cNvSpPr>
            <a:spLocks xmlns:a="http://schemas.openxmlformats.org/drawingml/2006/main" noGrp="1"/>
          </p:cNvSpPr>
          <p:nvPr/>
        </p:nvSpPr>
        <p:spPr>
          <a:xfrm xmlns:a="http://schemas.openxmlformats.org/drawingml/2006/main">
            <a:off x="-1143000" y="5429250"/>
            <a:ext cx="2857500" cy="2095500"/>
          </a:xfrm>
          <a:prstGeom xmlns:a="http://schemas.openxmlformats.org/drawingml/2006/main" prst="ellipse">
            <a:avLst/>
          </a:prstGeom>
          <a:solidFill xmlns:a="http://schemas.openxmlformats.org/drawingml/2006/main">
            <a:srgbClr val="F5E7C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F62B380-6599-458F-BFE0-C09D106AF2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7B18B9B-5047-47B7-B51E-C66E8FE66F62}"/>
              </a:ext>
            </a:extLst>
          </p:cNvPr>
          <p:cNvSpPr>
            <a:spLocks xmlns:a="http://schemas.openxmlformats.org/drawingml/2006/main" noGrp="1"/>
          </p:cNvSpPr>
          <p:nvPr/>
        </p:nvSpPr>
        <p:spPr>
          <a:xfrm xmlns:a="http://schemas.openxmlformats.org/drawingml/2006/main">
            <a:off x="609600" y="819150"/>
            <a:ext cx="66675" cy="4762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66D64FC-B545-426A-890E-0BA778693FAD}"/>
              </a:ext>
            </a:extLst>
          </p:cNvPr>
          <p:cNvSpPr>
            <a:spLocks xmlns:a="http://schemas.openxmlformats.org/drawingml/2006/main" noGrp="1"/>
          </p:cNvSpPr>
          <p:nvPr/>
        </p:nvSpPr>
        <p:spPr>
          <a:xfrm xmlns:a="http://schemas.openxmlformats.org/drawingml/2006/main">
            <a:off x="819150" y="838200"/>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Housing Prices Dataset</a:t>
            </a:r>
          </a:p>
        </p:txBody>
      </p:sp>
      <p:sp>
        <p:nvSpPr>
          <p:cNvPr id="7" name="">
            <a:extLst xmlns:a="http://schemas.openxmlformats.org/drawingml/2006/main">
              <a:ext uri="{FF2B5EF4-FFF2-40B4-BE49-F238E27FC236}">
                <a16:creationId xmlns:a16="http://schemas.microsoft.com/office/drawing/2014/main" id="{B979D6BC-693B-41D0-B82F-F35539AFC2D1}"/>
              </a:ext>
            </a:extLst>
          </p:cNvPr>
          <p:cNvSpPr>
            <a:spLocks xmlns:a="http://schemas.openxmlformats.org/drawingml/2006/main" noGrp="1"/>
          </p:cNvSpPr>
          <p:nvPr/>
        </p:nvSpPr>
        <p:spPr>
          <a:xfrm xmlns:a="http://schemas.openxmlformats.org/drawingml/2006/main">
            <a:off x="781050" y="1200150"/>
            <a:ext cx="5905500" cy="1657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101214"/>
                </a:solidFill>
              </a:defRPr>
            </a:pPr>
            <a:r>
              <a:rPr sz="3600" b="1">
                <a:solidFill>
                  <a:srgbClr val="101214"/>
                </a:solidFill>
              </a:rPr>
              <a:t>What Seems To Drive Housing Prices?</a:t>
            </a:r>
          </a:p>
        </p:txBody>
      </p:sp>
      <p:sp>
        <p:nvSpPr>
          <p:cNvPr id="8" name="">
            <a:extLst xmlns:a="http://schemas.openxmlformats.org/drawingml/2006/main">
              <a:ext uri="{FF2B5EF4-FFF2-40B4-BE49-F238E27FC236}">
                <a16:creationId xmlns:a16="http://schemas.microsoft.com/office/drawing/2014/main" id="{6C1FEDF3-9D4A-41EF-B4B1-21CAAB6511DB}"/>
              </a:ext>
            </a:extLst>
          </p:cNvPr>
          <p:cNvSpPr>
            <a:spLocks xmlns:a="http://schemas.openxmlformats.org/drawingml/2006/main" noGrp="1"/>
          </p:cNvSpPr>
          <p:nvPr/>
        </p:nvSpPr>
        <p:spPr>
          <a:xfrm xmlns:a="http://schemas.openxmlformats.org/drawingml/2006/main">
            <a:off x="819150" y="2971800"/>
            <a:ext cx="5334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0363A"/>
                </a:solidFill>
              </a:defRPr>
            </a:pPr>
            <a:r>
              <a:rPr sz="1500" b="0">
                <a:solidFill>
                  <a:srgbClr val="30363A"/>
                </a:solidFill>
              </a:rPr>
              <a:t>An initial pricing story built from 545 housing records with size, room counts, and amenity features.</a:t>
            </a:r>
          </a:p>
        </p:txBody>
      </p:sp>
      <p:sp>
        <p:nvSpPr>
          <p:cNvPr id="9" name="">
            <a:extLst xmlns:a="http://schemas.openxmlformats.org/drawingml/2006/main">
              <a:ext uri="{FF2B5EF4-FFF2-40B4-BE49-F238E27FC236}">
                <a16:creationId xmlns:a16="http://schemas.microsoft.com/office/drawing/2014/main" id="{97AE81FE-5D93-4F71-B520-28BC21C7E180}"/>
              </a:ext>
            </a:extLst>
          </p:cNvPr>
          <p:cNvSpPr>
            <a:spLocks xmlns:a="http://schemas.openxmlformats.org/drawingml/2006/main" noGrp="1"/>
          </p:cNvSpPr>
          <p:nvPr/>
        </p:nvSpPr>
        <p:spPr>
          <a:xfrm xmlns:a="http://schemas.openxmlformats.org/drawingml/2006/main">
            <a:off x="819150" y="4248150"/>
            <a:ext cx="5334000" cy="1123950"/>
          </a:xfrm>
          <a:prstGeom xmlns:a="http://schemas.openxmlformats.org/drawingml/2006/main" prst="roundRect">
            <a:avLst>
              <a:gd name="adj" fmla="val 6780"/>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0" name="">
            <a:extLst xmlns:a="http://schemas.openxmlformats.org/drawingml/2006/main">
              <a:ext uri="{FF2B5EF4-FFF2-40B4-BE49-F238E27FC236}">
                <a16:creationId xmlns:a16="http://schemas.microsoft.com/office/drawing/2014/main" id="{9F331C52-B28A-4152-99A4-46C95439C60E}"/>
              </a:ext>
            </a:extLst>
          </p:cNvPr>
          <p:cNvSpPr>
            <a:spLocks xmlns:a="http://schemas.openxmlformats.org/drawingml/2006/main" noGrp="1"/>
          </p:cNvSpPr>
          <p:nvPr/>
        </p:nvSpPr>
        <p:spPr>
          <a:xfrm xmlns:a="http://schemas.openxmlformats.org/drawingml/2006/main">
            <a:off x="819150" y="4248150"/>
            <a:ext cx="76200" cy="11239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EEB638F-2FD1-4B40-B790-C8FC05DD0E7E}"/>
              </a:ext>
            </a:extLst>
          </p:cNvPr>
          <p:cNvSpPr>
            <a:spLocks xmlns:a="http://schemas.openxmlformats.org/drawingml/2006/main" noGrp="1"/>
          </p:cNvSpPr>
          <p:nvPr/>
        </p:nvSpPr>
        <p:spPr>
          <a:xfrm xmlns:a="http://schemas.openxmlformats.org/drawingml/2006/main">
            <a:off x="1028700" y="4400550"/>
            <a:ext cx="4914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6B49"/>
                </a:solidFill>
              </a:defRPr>
            </a:pPr>
            <a:r>
              <a:rPr sz="1050" b="1">
                <a:solidFill>
                  <a:srgbClr val="116B49"/>
                </a:solidFill>
              </a:rPr>
              <a:t>Story lens</a:t>
            </a:r>
          </a:p>
        </p:txBody>
      </p:sp>
      <p:sp>
        <p:nvSpPr>
          <p:cNvPr id="12" name="">
            <a:extLst xmlns:a="http://schemas.openxmlformats.org/drawingml/2006/main">
              <a:ext uri="{FF2B5EF4-FFF2-40B4-BE49-F238E27FC236}">
                <a16:creationId xmlns:a16="http://schemas.microsoft.com/office/drawing/2014/main" id="{3797AB3F-67BD-46E2-B32D-F71EA1F30A4E}"/>
              </a:ext>
            </a:extLst>
          </p:cNvPr>
          <p:cNvSpPr>
            <a:spLocks xmlns:a="http://schemas.openxmlformats.org/drawingml/2006/main" noGrp="1"/>
          </p:cNvSpPr>
          <p:nvPr/>
        </p:nvSpPr>
        <p:spPr>
          <a:xfrm xmlns:a="http://schemas.openxmlformats.org/drawingml/2006/main">
            <a:off x="1028700" y="4667250"/>
            <a:ext cx="49149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01214"/>
                </a:solidFill>
              </a:defRPr>
            </a:pPr>
            <a:r>
              <a:rPr sz="1200" b="0">
                <a:solidFill>
                  <a:srgbClr val="101214"/>
                </a:solidFill>
              </a:rPr>
              <a:t>Price behaves like a ladder: space sets the</a:t>
            </a:r>
          </a:p>
          <a:p xmlns:a="http://schemas.openxmlformats.org/drawingml/2006/main">
            <a:pPr algn="l">
              <a:defRPr sz="1200" b="0">
                <a:solidFill>
                  <a:srgbClr val="101214"/>
                </a:solidFill>
              </a:defRPr>
            </a:pPr>
            <a:r>
              <a:rPr sz="1200" b="0">
                <a:solidFill>
                  <a:srgbClr val="101214"/>
                </a:solidFill>
              </a:rPr>
              <a:t>base, convenience creates the premium.</a:t>
            </a:r>
          </a:p>
        </p:txBody>
      </p:sp>
      <p:sp>
        <p:nvSpPr>
          <p:cNvPr id="13" name="">
            <a:extLst xmlns:a="http://schemas.openxmlformats.org/drawingml/2006/main">
              <a:ext uri="{FF2B5EF4-FFF2-40B4-BE49-F238E27FC236}">
                <a16:creationId xmlns:a16="http://schemas.microsoft.com/office/drawing/2014/main" id="{D6A622A1-5C68-42DC-A91A-2DC03FC8EF5B}"/>
              </a:ext>
            </a:extLst>
          </p:cNvPr>
          <p:cNvSpPr>
            <a:spLocks xmlns:a="http://schemas.openxmlformats.org/drawingml/2006/main" noGrp="1"/>
          </p:cNvSpPr>
          <p:nvPr/>
        </p:nvSpPr>
        <p:spPr>
          <a:xfrm xmlns:a="http://schemas.openxmlformats.org/drawingml/2006/main">
            <a:off x="819150" y="5562600"/>
            <a:ext cx="5334000" cy="685800"/>
          </a:xfrm>
          <a:prstGeom xmlns:a="http://schemas.openxmlformats.org/drawingml/2006/main" prst="roundRect">
            <a:avLst>
              <a:gd name="adj" fmla="val 11111"/>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4" name="">
            <a:extLst xmlns:a="http://schemas.openxmlformats.org/drawingml/2006/main">
              <a:ext uri="{FF2B5EF4-FFF2-40B4-BE49-F238E27FC236}">
                <a16:creationId xmlns:a16="http://schemas.microsoft.com/office/drawing/2014/main" id="{79CA17A1-181C-4965-A49B-354BB8F5B1CE}"/>
              </a:ext>
            </a:extLst>
          </p:cNvPr>
          <p:cNvSpPr>
            <a:spLocks xmlns:a="http://schemas.openxmlformats.org/drawingml/2006/main" noGrp="1"/>
          </p:cNvSpPr>
          <p:nvPr/>
        </p:nvSpPr>
        <p:spPr>
          <a:xfrm xmlns:a="http://schemas.openxmlformats.org/drawingml/2006/main">
            <a:off x="819150" y="5562600"/>
            <a:ext cx="76200" cy="68580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77545A1-FC82-4B82-B877-A0C3D61450F9}"/>
              </a:ext>
            </a:extLst>
          </p:cNvPr>
          <p:cNvSpPr>
            <a:spLocks xmlns:a="http://schemas.openxmlformats.org/drawingml/2006/main" noGrp="1"/>
          </p:cNvSpPr>
          <p:nvPr/>
        </p:nvSpPr>
        <p:spPr>
          <a:xfrm xmlns:a="http://schemas.openxmlformats.org/drawingml/2006/main">
            <a:off x="1009650" y="5676900"/>
            <a:ext cx="495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Caveat</a:t>
            </a:r>
          </a:p>
        </p:txBody>
      </p:sp>
      <p:sp>
        <p:nvSpPr>
          <p:cNvPr id="16" name="">
            <a:extLst xmlns:a="http://schemas.openxmlformats.org/drawingml/2006/main">
              <a:ext uri="{FF2B5EF4-FFF2-40B4-BE49-F238E27FC236}">
                <a16:creationId xmlns:a16="http://schemas.microsoft.com/office/drawing/2014/main" id="{2F4D445D-6067-4BC9-B926-19619214DFB4}"/>
              </a:ext>
            </a:extLst>
          </p:cNvPr>
          <p:cNvSpPr>
            <a:spLocks xmlns:a="http://schemas.openxmlformats.org/drawingml/2006/main" noGrp="1"/>
          </p:cNvSpPr>
          <p:nvPr/>
        </p:nvSpPr>
        <p:spPr>
          <a:xfrm xmlns:a="http://schemas.openxmlformats.org/drawingml/2006/main">
            <a:off x="1009650" y="58483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01214"/>
                </a:solidFill>
              </a:defRPr>
            </a:pPr>
            <a:r>
              <a:rPr sz="975" b="0">
                <a:solidFill>
                  <a:srgbClr val="101214"/>
                </a:solidFill>
              </a:rPr>
              <a:t>Use this as a structural first read, not a</a:t>
            </a:r>
          </a:p>
          <a:p xmlns:a="http://schemas.openxmlformats.org/drawingml/2006/main">
            <a:pPr algn="l">
              <a:defRPr sz="975" b="0">
                <a:solidFill>
                  <a:srgbClr val="101214"/>
                </a:solidFill>
              </a:defRPr>
            </a:pPr>
            <a:r>
              <a:rPr sz="975" b="0">
                <a:solidFill>
                  <a:srgbClr val="101214"/>
                </a:solidFill>
              </a:rPr>
              <a:t>final market model.</a:t>
            </a:r>
          </a:p>
        </p:txBody>
      </p:sp>
      <p:sp>
        <p:nvSpPr>
          <p:cNvPr id="17" name="">
            <a:extLst xmlns:a="http://schemas.openxmlformats.org/drawingml/2006/main">
              <a:ext uri="{FF2B5EF4-FFF2-40B4-BE49-F238E27FC236}">
                <a16:creationId xmlns:a16="http://schemas.microsoft.com/office/drawing/2014/main" id="{C291948B-3A07-4F62-904A-34CDC0445B72}"/>
              </a:ext>
            </a:extLst>
          </p:cNvPr>
          <p:cNvSpPr>
            <a:spLocks xmlns:a="http://schemas.openxmlformats.org/drawingml/2006/main" noGrp="1"/>
          </p:cNvSpPr>
          <p:nvPr/>
        </p:nvSpPr>
        <p:spPr>
          <a:xfrm xmlns:a="http://schemas.openxmlformats.org/drawingml/2006/main">
            <a:off x="7239000" y="1123950"/>
            <a:ext cx="3981450" cy="1181100"/>
          </a:xfrm>
          <a:prstGeom xmlns:a="http://schemas.openxmlformats.org/drawingml/2006/main" prst="roundRect">
            <a:avLst>
              <a:gd name="adj" fmla="val 6452"/>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8" name="">
            <a:extLst xmlns:a="http://schemas.openxmlformats.org/drawingml/2006/main">
              <a:ext uri="{FF2B5EF4-FFF2-40B4-BE49-F238E27FC236}">
                <a16:creationId xmlns:a16="http://schemas.microsoft.com/office/drawing/2014/main" id="{E83FD3FF-5489-481E-8FA1-64C08261F83E}"/>
              </a:ext>
            </a:extLst>
          </p:cNvPr>
          <p:cNvSpPr>
            <a:spLocks xmlns:a="http://schemas.openxmlformats.org/drawingml/2006/main" noGrp="1"/>
          </p:cNvSpPr>
          <p:nvPr/>
        </p:nvSpPr>
        <p:spPr>
          <a:xfrm xmlns:a="http://schemas.openxmlformats.org/drawingml/2006/main">
            <a:off x="7239000" y="1123950"/>
            <a:ext cx="3981450" cy="571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869A0FFF-1597-4923-9483-3613F81AE255}"/>
              </a:ext>
            </a:extLst>
          </p:cNvPr>
          <p:cNvSpPr>
            <a:spLocks xmlns:a="http://schemas.openxmlformats.org/drawingml/2006/main" noGrp="1"/>
          </p:cNvSpPr>
          <p:nvPr/>
        </p:nvSpPr>
        <p:spPr>
          <a:xfrm xmlns:a="http://schemas.openxmlformats.org/drawingml/2006/main">
            <a:off x="7429500" y="1276350"/>
            <a:ext cx="3600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545</a:t>
            </a:r>
          </a:p>
        </p:txBody>
      </p:sp>
      <p:sp>
        <p:nvSpPr>
          <p:cNvPr id="20" name="">
            <a:extLst xmlns:a="http://schemas.openxmlformats.org/drawingml/2006/main">
              <a:ext uri="{FF2B5EF4-FFF2-40B4-BE49-F238E27FC236}">
                <a16:creationId xmlns:a16="http://schemas.microsoft.com/office/drawing/2014/main" id="{908C044C-DB7F-42AE-B0B7-AF1A87D2B539}"/>
              </a:ext>
            </a:extLst>
          </p:cNvPr>
          <p:cNvSpPr>
            <a:spLocks xmlns:a="http://schemas.openxmlformats.org/drawingml/2006/main" noGrp="1"/>
          </p:cNvSpPr>
          <p:nvPr/>
        </p:nvSpPr>
        <p:spPr>
          <a:xfrm xmlns:a="http://schemas.openxmlformats.org/drawingml/2006/main">
            <a:off x="7429500" y="1676400"/>
            <a:ext cx="3600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homes in a clean dataset</a:t>
            </a:r>
          </a:p>
        </p:txBody>
      </p:sp>
      <p:sp>
        <p:nvSpPr>
          <p:cNvPr id="21" name="">
            <a:extLst xmlns:a="http://schemas.openxmlformats.org/drawingml/2006/main">
              <a:ext uri="{FF2B5EF4-FFF2-40B4-BE49-F238E27FC236}">
                <a16:creationId xmlns:a16="http://schemas.microsoft.com/office/drawing/2014/main" id="{29CE4CAD-B88D-4FEF-8F61-151E58B31A96}"/>
              </a:ext>
            </a:extLst>
          </p:cNvPr>
          <p:cNvSpPr>
            <a:spLocks xmlns:a="http://schemas.openxmlformats.org/drawingml/2006/main" noGrp="1"/>
          </p:cNvSpPr>
          <p:nvPr/>
        </p:nvSpPr>
        <p:spPr>
          <a:xfrm xmlns:a="http://schemas.openxmlformats.org/drawingml/2006/main">
            <a:off x="7239000" y="2495550"/>
            <a:ext cx="3981450" cy="1181100"/>
          </a:xfrm>
          <a:prstGeom xmlns:a="http://schemas.openxmlformats.org/drawingml/2006/main" prst="roundRect">
            <a:avLst>
              <a:gd name="adj" fmla="val 6452"/>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2" name="">
            <a:extLst xmlns:a="http://schemas.openxmlformats.org/drawingml/2006/main">
              <a:ext uri="{FF2B5EF4-FFF2-40B4-BE49-F238E27FC236}">
                <a16:creationId xmlns:a16="http://schemas.microsoft.com/office/drawing/2014/main" id="{064A83D0-6225-4BBA-81BC-24141DEF9445}"/>
              </a:ext>
            </a:extLst>
          </p:cNvPr>
          <p:cNvSpPr>
            <a:spLocks xmlns:a="http://schemas.openxmlformats.org/drawingml/2006/main" noGrp="1"/>
          </p:cNvSpPr>
          <p:nvPr/>
        </p:nvSpPr>
        <p:spPr>
          <a:xfrm xmlns:a="http://schemas.openxmlformats.org/drawingml/2006/main">
            <a:off x="7239000" y="2495550"/>
            <a:ext cx="3981450" cy="5715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E9E1ED8-06FB-49B0-B06A-3625413FE3F7}"/>
              </a:ext>
            </a:extLst>
          </p:cNvPr>
          <p:cNvSpPr>
            <a:spLocks xmlns:a="http://schemas.openxmlformats.org/drawingml/2006/main" noGrp="1"/>
          </p:cNvSpPr>
          <p:nvPr/>
        </p:nvSpPr>
        <p:spPr>
          <a:xfrm xmlns:a="http://schemas.openxmlformats.org/drawingml/2006/main">
            <a:off x="7429500" y="2647950"/>
            <a:ext cx="3600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4.34M</a:t>
            </a:r>
          </a:p>
        </p:txBody>
      </p:sp>
      <p:sp>
        <p:nvSpPr>
          <p:cNvPr id="24" name="">
            <a:extLst xmlns:a="http://schemas.openxmlformats.org/drawingml/2006/main">
              <a:ext uri="{FF2B5EF4-FFF2-40B4-BE49-F238E27FC236}">
                <a16:creationId xmlns:a16="http://schemas.microsoft.com/office/drawing/2014/main" id="{78C38776-C7D2-4CC8-8593-7655A129C8A2}"/>
              </a:ext>
            </a:extLst>
          </p:cNvPr>
          <p:cNvSpPr>
            <a:spLocks xmlns:a="http://schemas.openxmlformats.org/drawingml/2006/main" noGrp="1"/>
          </p:cNvSpPr>
          <p:nvPr/>
        </p:nvSpPr>
        <p:spPr>
          <a:xfrm xmlns:a="http://schemas.openxmlformats.org/drawingml/2006/main">
            <a:off x="7429500" y="3048000"/>
            <a:ext cx="3600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median home price</a:t>
            </a:r>
          </a:p>
        </p:txBody>
      </p:sp>
      <p:sp>
        <p:nvSpPr>
          <p:cNvPr id="25" name="">
            <a:extLst xmlns:a="http://schemas.openxmlformats.org/drawingml/2006/main">
              <a:ext uri="{FF2B5EF4-FFF2-40B4-BE49-F238E27FC236}">
                <a16:creationId xmlns:a16="http://schemas.microsoft.com/office/drawing/2014/main" id="{B6924C60-7B15-42AB-84F2-4B20BDAD4895}"/>
              </a:ext>
            </a:extLst>
          </p:cNvPr>
          <p:cNvSpPr>
            <a:spLocks xmlns:a="http://schemas.openxmlformats.org/drawingml/2006/main" noGrp="1"/>
          </p:cNvSpPr>
          <p:nvPr/>
        </p:nvSpPr>
        <p:spPr>
          <a:xfrm xmlns:a="http://schemas.openxmlformats.org/drawingml/2006/main">
            <a:off x="7239000" y="3867150"/>
            <a:ext cx="3981450" cy="1181100"/>
          </a:xfrm>
          <a:prstGeom xmlns:a="http://schemas.openxmlformats.org/drawingml/2006/main" prst="roundRect">
            <a:avLst>
              <a:gd name="adj" fmla="val 6452"/>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6" name="">
            <a:extLst xmlns:a="http://schemas.openxmlformats.org/drawingml/2006/main">
              <a:ext uri="{FF2B5EF4-FFF2-40B4-BE49-F238E27FC236}">
                <a16:creationId xmlns:a16="http://schemas.microsoft.com/office/drawing/2014/main" id="{39BBED9A-2487-44BD-BBF1-2C9D160D6D0A}"/>
              </a:ext>
            </a:extLst>
          </p:cNvPr>
          <p:cNvSpPr>
            <a:spLocks xmlns:a="http://schemas.openxmlformats.org/drawingml/2006/main" noGrp="1"/>
          </p:cNvSpPr>
          <p:nvPr/>
        </p:nvSpPr>
        <p:spPr>
          <a:xfrm xmlns:a="http://schemas.openxmlformats.org/drawingml/2006/main">
            <a:off x="7239000" y="3867150"/>
            <a:ext cx="3981450" cy="57150"/>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380E838-6986-4592-B09D-BA98736AB551}"/>
              </a:ext>
            </a:extLst>
          </p:cNvPr>
          <p:cNvSpPr>
            <a:spLocks xmlns:a="http://schemas.openxmlformats.org/drawingml/2006/main" noGrp="1"/>
          </p:cNvSpPr>
          <p:nvPr/>
        </p:nvSpPr>
        <p:spPr>
          <a:xfrm xmlns:a="http://schemas.openxmlformats.org/drawingml/2006/main">
            <a:off x="7429500" y="4019550"/>
            <a:ext cx="3600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68.2%</a:t>
            </a:r>
          </a:p>
        </p:txBody>
      </p:sp>
      <p:sp>
        <p:nvSpPr>
          <p:cNvPr id="28" name="">
            <a:extLst xmlns:a="http://schemas.openxmlformats.org/drawingml/2006/main">
              <a:ext uri="{FF2B5EF4-FFF2-40B4-BE49-F238E27FC236}">
                <a16:creationId xmlns:a16="http://schemas.microsoft.com/office/drawing/2014/main" id="{E5DA2E4F-3AF7-45E8-BA40-F60D1F2AF4C9}"/>
              </a:ext>
            </a:extLst>
          </p:cNvPr>
          <p:cNvSpPr>
            <a:spLocks xmlns:a="http://schemas.openxmlformats.org/drawingml/2006/main" noGrp="1"/>
          </p:cNvSpPr>
          <p:nvPr/>
        </p:nvSpPr>
        <p:spPr>
          <a:xfrm xmlns:a="http://schemas.openxmlformats.org/drawingml/2006/main">
            <a:off x="7429500" y="4419600"/>
            <a:ext cx="36004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price variation explained by a simple all-features linear read</a:t>
            </a:r>
          </a:p>
        </p:txBody>
      </p:sp>
      <p:sp>
        <p:nvSpPr>
          <p:cNvPr id="29" name="">
            <a:extLst xmlns:a="http://schemas.openxmlformats.org/drawingml/2006/main">
              <a:ext uri="{FF2B5EF4-FFF2-40B4-BE49-F238E27FC236}">
                <a16:creationId xmlns:a16="http://schemas.microsoft.com/office/drawing/2014/main" id="{62A282E9-CAE2-4C10-A16F-81FEF35F4FEF}"/>
              </a:ext>
            </a:extLst>
          </p:cNvPr>
          <p:cNvSpPr>
            <a:spLocks xmlns:a="http://schemas.openxmlformats.org/drawingml/2006/main" noGrp="1"/>
          </p:cNvSpPr>
          <p:nvPr/>
        </p:nvSpPr>
        <p:spPr>
          <a:xfrm xmlns:a="http://schemas.openxmlformats.org/drawingml/2006/main">
            <a:off x="7239000" y="5238750"/>
            <a:ext cx="39814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30" name="">
            <a:extLst xmlns:a="http://schemas.openxmlformats.org/drawingml/2006/main">
              <a:ext uri="{FF2B5EF4-FFF2-40B4-BE49-F238E27FC236}">
                <a16:creationId xmlns:a16="http://schemas.microsoft.com/office/drawing/2014/main" id="{58C893CE-FFB2-4E40-BE42-D28CE2D3A0C6}"/>
              </a:ext>
            </a:extLst>
          </p:cNvPr>
          <p:cNvSpPr>
            <a:spLocks xmlns:a="http://schemas.openxmlformats.org/drawingml/2006/main" noGrp="1"/>
          </p:cNvSpPr>
          <p:nvPr/>
        </p:nvSpPr>
        <p:spPr>
          <a:xfrm xmlns:a="http://schemas.openxmlformats.org/drawingml/2006/main">
            <a:off x="7239000" y="5238750"/>
            <a:ext cx="3981450" cy="571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95BB30D7-4A76-44E0-96FC-53DC5F83B90E}"/>
              </a:ext>
            </a:extLst>
          </p:cNvPr>
          <p:cNvSpPr>
            <a:spLocks xmlns:a="http://schemas.openxmlformats.org/drawingml/2006/main" noGrp="1"/>
          </p:cNvSpPr>
          <p:nvPr/>
        </p:nvSpPr>
        <p:spPr>
          <a:xfrm xmlns:a="http://schemas.openxmlformats.org/drawingml/2006/main">
            <a:off x="7429500" y="5391150"/>
            <a:ext cx="3600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5.74M</a:t>
            </a:r>
          </a:p>
        </p:txBody>
      </p:sp>
      <p:sp>
        <p:nvSpPr>
          <p:cNvPr id="32" name="">
            <a:extLst xmlns:a="http://schemas.openxmlformats.org/drawingml/2006/main">
              <a:ext uri="{FF2B5EF4-FFF2-40B4-BE49-F238E27FC236}">
                <a16:creationId xmlns:a16="http://schemas.microsoft.com/office/drawing/2014/main" id="{9AFF8C79-B73C-46F0-BD41-9E5DAC669226}"/>
              </a:ext>
            </a:extLst>
          </p:cNvPr>
          <p:cNvSpPr>
            <a:spLocks xmlns:a="http://schemas.openxmlformats.org/drawingml/2006/main" noGrp="1"/>
          </p:cNvSpPr>
          <p:nvPr/>
        </p:nvSpPr>
        <p:spPr>
          <a:xfrm xmlns:a="http://schemas.openxmlformats.org/drawingml/2006/main">
            <a:off x="7429500" y="5791200"/>
            <a:ext cx="3600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price where the upper quartile begins</a:t>
            </a:r>
          </a:p>
        </p:txBody>
      </p:sp>
      <p:sp>
        <p:nvSpPr>
          <p:cNvPr id="33" name="">
            <a:extLst xmlns:a="http://schemas.openxmlformats.org/drawingml/2006/main">
              <a:ext uri="{FF2B5EF4-FFF2-40B4-BE49-F238E27FC236}">
                <a16:creationId xmlns:a16="http://schemas.microsoft.com/office/drawing/2014/main" id="{920E1E13-B747-4218-BA22-8AAD37A8EF2E}"/>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Source: Housing.xlsx | Prices shown in millions</a:t>
            </a:r>
          </a:p>
        </p:txBody>
      </p:sp>
    </p:spTree>
    <p:extLst>
      <p:ext uri="{BB962C8B-B14F-4D97-AF65-F5344CB8AC3E}">
        <p14:creationId xmlns:p14="http://schemas.microsoft.com/office/powerpoint/2010/main" val="992297379"/>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68454A6-34CC-4712-8DEC-0DFFCC595BC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8C0F9AD0-6938-4233-98D0-5C18F8B27D64}"/>
              </a:ext>
            </a:extLst>
          </p:cNvPr>
          <p:cNvSpPr>
            <a:spLocks xmlns:a="http://schemas.openxmlformats.org/drawingml/2006/main" noGrp="1"/>
          </p:cNvSpPr>
          <p:nvPr/>
        </p:nvSpPr>
        <p:spPr>
          <a:xfrm xmlns:a="http://schemas.openxmlformats.org/drawingml/2006/main">
            <a:off x="9334500" y="-762000"/>
            <a:ext cx="3048000" cy="3048000"/>
          </a:xfrm>
          <a:prstGeom xmlns:a="http://schemas.openxmlformats.org/drawingml/2006/main" prst="ellipse">
            <a:avLst/>
          </a:prstGeom>
          <a:solidFill xmlns:a="http://schemas.openxmlformats.org/drawingml/2006/main">
            <a:srgbClr val="E4F3E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79E82D5-7830-429E-AF5F-05BF4417D5FC}"/>
              </a:ext>
            </a:extLst>
          </p:cNvPr>
          <p:cNvSpPr>
            <a:spLocks xmlns:a="http://schemas.openxmlformats.org/drawingml/2006/main" noGrp="1"/>
          </p:cNvSpPr>
          <p:nvPr/>
        </p:nvSpPr>
        <p:spPr>
          <a:xfrm xmlns:a="http://schemas.openxmlformats.org/drawingml/2006/main">
            <a:off x="-1143000" y="5429250"/>
            <a:ext cx="2857500" cy="2095500"/>
          </a:xfrm>
          <a:prstGeom xmlns:a="http://schemas.openxmlformats.org/drawingml/2006/main" prst="ellipse">
            <a:avLst/>
          </a:prstGeom>
          <a:solidFill xmlns:a="http://schemas.openxmlformats.org/drawingml/2006/main">
            <a:srgbClr val="F5E7C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C3AFA56-2A32-499F-9374-1D6A4B7358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29530A1-AFA8-4E9E-A87A-CA3AD0B3212E}"/>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MARKET SNAPSHOT</a:t>
            </a:r>
          </a:p>
        </p:txBody>
      </p:sp>
      <p:sp>
        <p:nvSpPr>
          <p:cNvPr id="6" name="">
            <a:extLst xmlns:a="http://schemas.openxmlformats.org/drawingml/2006/main">
              <a:ext uri="{FF2B5EF4-FFF2-40B4-BE49-F238E27FC236}">
                <a16:creationId xmlns:a16="http://schemas.microsoft.com/office/drawing/2014/main" id="{045D59AB-C39E-467C-8392-D44E2C71AD5D}"/>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02 / 05</a:t>
            </a:r>
          </a:p>
        </p:txBody>
      </p:sp>
      <p:sp>
        <p:nvSpPr>
          <p:cNvPr id="7" name="">
            <a:extLst xmlns:a="http://schemas.openxmlformats.org/drawingml/2006/main">
              <a:ext uri="{FF2B5EF4-FFF2-40B4-BE49-F238E27FC236}">
                <a16:creationId xmlns:a16="http://schemas.microsoft.com/office/drawing/2014/main" id="{216142DD-C65A-41E5-A647-A372FB58A5CB}"/>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B3CC4AD-DC95-4B7B-A315-6CFE09C39D16}"/>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9" name="">
            <a:extLst xmlns:a="http://schemas.openxmlformats.org/drawingml/2006/main">
              <a:ext uri="{FF2B5EF4-FFF2-40B4-BE49-F238E27FC236}">
                <a16:creationId xmlns:a16="http://schemas.microsoft.com/office/drawing/2014/main" id="{2BDBB308-D555-431A-8C16-97A87B0968A4}"/>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The Dataset Shows A Wide Price Ladder</a:t>
            </a:r>
          </a:p>
        </p:txBody>
      </p:sp>
      <p:sp>
        <p:nvSpPr>
          <p:cNvPr id="10" name="">
            <a:extLst xmlns:a="http://schemas.openxmlformats.org/drawingml/2006/main">
              <a:ext uri="{FF2B5EF4-FFF2-40B4-BE49-F238E27FC236}">
                <a16:creationId xmlns:a16="http://schemas.microsoft.com/office/drawing/2014/main" id="{756EC536-7187-411D-87F3-512EDDA0F953}"/>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Most homes sit in the middle of the market, but the upper tier is clearly separated from the rest.</a:t>
            </a:r>
          </a:p>
        </p:txBody>
      </p:sp>
      <p:sp>
        <p:nvSpPr>
          <p:cNvPr id="11" name="">
            <a:extLst xmlns:a="http://schemas.openxmlformats.org/drawingml/2006/main">
              <a:ext uri="{FF2B5EF4-FFF2-40B4-BE49-F238E27FC236}">
                <a16:creationId xmlns:a16="http://schemas.microsoft.com/office/drawing/2014/main" id="{CAB8CB18-9CE6-4CF3-8DB7-A8EB3B14606F}"/>
              </a:ext>
            </a:extLst>
          </p:cNvPr>
          <p:cNvSpPr>
            <a:spLocks xmlns:a="http://schemas.openxmlformats.org/drawingml/2006/main" noGrp="1"/>
          </p:cNvSpPr>
          <p:nvPr/>
        </p:nvSpPr>
        <p:spPr>
          <a:xfrm xmlns:a="http://schemas.openxmlformats.org/drawingml/2006/main">
            <a:off x="609600" y="2743200"/>
            <a:ext cx="7239000" cy="320040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11430">
            <a:solidFill>
              <a:srgbClr val="101214"/>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471ec0e3b044a0"/>
          <a:stretch xmlns:a="http://schemas.openxmlformats.org/drawingml/2006/main"/>
        </p:blipFill>
        <p:spPr>
          <a:xfrm xmlns:a="http://schemas.openxmlformats.org/drawingml/2006/main">
            <a:off x="1858433" y="2914650"/>
            <a:ext cx="4741333" cy="2667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896E16C-0390-49D9-B981-F56DCF5252BA}"/>
              </a:ext>
            </a:extLst>
          </p:cNvPr>
          <p:cNvSpPr>
            <a:spLocks xmlns:a="http://schemas.openxmlformats.org/drawingml/2006/main" noGrp="1"/>
          </p:cNvSpPr>
          <p:nvPr/>
        </p:nvSpPr>
        <p:spPr>
          <a:xfrm xmlns:a="http://schemas.openxmlformats.org/drawingml/2006/main">
            <a:off x="800100" y="56769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Price distribution exported from the Python project.</a:t>
            </a:r>
          </a:p>
        </p:txBody>
      </p:sp>
      <p:sp>
        <p:nvSpPr>
          <p:cNvPr id="14" name="">
            <a:extLst xmlns:a="http://schemas.openxmlformats.org/drawingml/2006/main">
              <a:ext uri="{FF2B5EF4-FFF2-40B4-BE49-F238E27FC236}">
                <a16:creationId xmlns:a16="http://schemas.microsoft.com/office/drawing/2014/main" id="{36ADEFF1-FC9D-4C52-B70A-D375E6A49CFF}"/>
              </a:ext>
            </a:extLst>
          </p:cNvPr>
          <p:cNvSpPr>
            <a:spLocks xmlns:a="http://schemas.openxmlformats.org/drawingml/2006/main" noGrp="1"/>
          </p:cNvSpPr>
          <p:nvPr/>
        </p:nvSpPr>
        <p:spPr>
          <a:xfrm xmlns:a="http://schemas.openxmlformats.org/drawingml/2006/main">
            <a:off x="8115300" y="27432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5" name="">
            <a:extLst xmlns:a="http://schemas.openxmlformats.org/drawingml/2006/main">
              <a:ext uri="{FF2B5EF4-FFF2-40B4-BE49-F238E27FC236}">
                <a16:creationId xmlns:a16="http://schemas.microsoft.com/office/drawing/2014/main" id="{F9BED495-3164-4B65-A414-95A068E8DF3F}"/>
              </a:ext>
            </a:extLst>
          </p:cNvPr>
          <p:cNvSpPr>
            <a:spLocks xmlns:a="http://schemas.openxmlformats.org/drawingml/2006/main" noGrp="1"/>
          </p:cNvSpPr>
          <p:nvPr/>
        </p:nvSpPr>
        <p:spPr>
          <a:xfrm xmlns:a="http://schemas.openxmlformats.org/drawingml/2006/main">
            <a:off x="8115300" y="2743200"/>
            <a:ext cx="3486150" cy="571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1A6DA89-A5A5-4C6C-A3B7-6C29A9ABDCF4}"/>
              </a:ext>
            </a:extLst>
          </p:cNvPr>
          <p:cNvSpPr>
            <a:spLocks xmlns:a="http://schemas.openxmlformats.org/drawingml/2006/main" noGrp="1"/>
          </p:cNvSpPr>
          <p:nvPr/>
        </p:nvSpPr>
        <p:spPr>
          <a:xfrm xmlns:a="http://schemas.openxmlformats.org/drawingml/2006/main">
            <a:off x="8305800" y="28956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4.34M</a:t>
            </a:r>
          </a:p>
        </p:txBody>
      </p:sp>
      <p:sp>
        <p:nvSpPr>
          <p:cNvPr id="17" name="">
            <a:extLst xmlns:a="http://schemas.openxmlformats.org/drawingml/2006/main">
              <a:ext uri="{FF2B5EF4-FFF2-40B4-BE49-F238E27FC236}">
                <a16:creationId xmlns:a16="http://schemas.microsoft.com/office/drawing/2014/main" id="{F0299F90-60BD-4DCC-B5B2-3A7E5AC5013B}"/>
              </a:ext>
            </a:extLst>
          </p:cNvPr>
          <p:cNvSpPr>
            <a:spLocks xmlns:a="http://schemas.openxmlformats.org/drawingml/2006/main" noGrp="1"/>
          </p:cNvSpPr>
          <p:nvPr/>
        </p:nvSpPr>
        <p:spPr>
          <a:xfrm xmlns:a="http://schemas.openxmlformats.org/drawingml/2006/main">
            <a:off x="8305800" y="32956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Median home price</a:t>
            </a:r>
          </a:p>
        </p:txBody>
      </p:sp>
      <p:sp>
        <p:nvSpPr>
          <p:cNvPr id="18" name="">
            <a:extLst xmlns:a="http://schemas.openxmlformats.org/drawingml/2006/main">
              <a:ext uri="{FF2B5EF4-FFF2-40B4-BE49-F238E27FC236}">
                <a16:creationId xmlns:a16="http://schemas.microsoft.com/office/drawing/2014/main" id="{6E5840DD-4A2C-432C-8694-540BE62C2061}"/>
              </a:ext>
            </a:extLst>
          </p:cNvPr>
          <p:cNvSpPr>
            <a:spLocks xmlns:a="http://schemas.openxmlformats.org/drawingml/2006/main" noGrp="1"/>
          </p:cNvSpPr>
          <p:nvPr/>
        </p:nvSpPr>
        <p:spPr>
          <a:xfrm xmlns:a="http://schemas.openxmlformats.org/drawingml/2006/main">
            <a:off x="8115300" y="37719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79D4C9B2-AA79-49E1-A856-D64C270F950E}"/>
              </a:ext>
            </a:extLst>
          </p:cNvPr>
          <p:cNvSpPr>
            <a:spLocks xmlns:a="http://schemas.openxmlformats.org/drawingml/2006/main" noGrp="1"/>
          </p:cNvSpPr>
          <p:nvPr/>
        </p:nvSpPr>
        <p:spPr>
          <a:xfrm xmlns:a="http://schemas.openxmlformats.org/drawingml/2006/main">
            <a:off x="8115300" y="3771900"/>
            <a:ext cx="3486150" cy="5715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9C83045-5230-4C63-8939-E1865E8F1B2C}"/>
              </a:ext>
            </a:extLst>
          </p:cNvPr>
          <p:cNvSpPr>
            <a:spLocks xmlns:a="http://schemas.openxmlformats.org/drawingml/2006/main" noGrp="1"/>
          </p:cNvSpPr>
          <p:nvPr/>
        </p:nvSpPr>
        <p:spPr>
          <a:xfrm xmlns:a="http://schemas.openxmlformats.org/drawingml/2006/main">
            <a:off x="8305800" y="39243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5.74M</a:t>
            </a:r>
          </a:p>
        </p:txBody>
      </p:sp>
      <p:sp>
        <p:nvSpPr>
          <p:cNvPr id="21" name="">
            <a:extLst xmlns:a="http://schemas.openxmlformats.org/drawingml/2006/main">
              <a:ext uri="{FF2B5EF4-FFF2-40B4-BE49-F238E27FC236}">
                <a16:creationId xmlns:a16="http://schemas.microsoft.com/office/drawing/2014/main" id="{DAC079D7-6224-41E9-81FB-5FFEB2A7E2AE}"/>
              </a:ext>
            </a:extLst>
          </p:cNvPr>
          <p:cNvSpPr>
            <a:spLocks xmlns:a="http://schemas.openxmlformats.org/drawingml/2006/main" noGrp="1"/>
          </p:cNvSpPr>
          <p:nvPr/>
        </p:nvSpPr>
        <p:spPr>
          <a:xfrm xmlns:a="http://schemas.openxmlformats.org/drawingml/2006/main">
            <a:off x="8305800" y="43243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Upper quartile threshold</a:t>
            </a:r>
          </a:p>
        </p:txBody>
      </p:sp>
      <p:sp>
        <p:nvSpPr>
          <p:cNvPr id="22" name="">
            <a:extLst xmlns:a="http://schemas.openxmlformats.org/drawingml/2006/main">
              <a:ext uri="{FF2B5EF4-FFF2-40B4-BE49-F238E27FC236}">
                <a16:creationId xmlns:a16="http://schemas.microsoft.com/office/drawing/2014/main" id="{403FE291-8E6E-4F2F-B76D-C9CD16D776F5}"/>
              </a:ext>
            </a:extLst>
          </p:cNvPr>
          <p:cNvSpPr>
            <a:spLocks xmlns:a="http://schemas.openxmlformats.org/drawingml/2006/main" noGrp="1"/>
          </p:cNvSpPr>
          <p:nvPr/>
        </p:nvSpPr>
        <p:spPr>
          <a:xfrm xmlns:a="http://schemas.openxmlformats.org/drawingml/2006/main">
            <a:off x="8115300" y="48006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3" name="">
            <a:extLst xmlns:a="http://schemas.openxmlformats.org/drawingml/2006/main">
              <a:ext uri="{FF2B5EF4-FFF2-40B4-BE49-F238E27FC236}">
                <a16:creationId xmlns:a16="http://schemas.microsoft.com/office/drawing/2014/main" id="{5B47D150-2D32-4F19-9C59-E3CC60809420}"/>
              </a:ext>
            </a:extLst>
          </p:cNvPr>
          <p:cNvSpPr>
            <a:spLocks xmlns:a="http://schemas.openxmlformats.org/drawingml/2006/main" noGrp="1"/>
          </p:cNvSpPr>
          <p:nvPr/>
        </p:nvSpPr>
        <p:spPr>
          <a:xfrm xmlns:a="http://schemas.openxmlformats.org/drawingml/2006/main">
            <a:off x="8115300" y="4800600"/>
            <a:ext cx="3486150" cy="57150"/>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C2D0D86-A242-442F-BE3E-443313B2278E}"/>
              </a:ext>
            </a:extLst>
          </p:cNvPr>
          <p:cNvSpPr>
            <a:spLocks xmlns:a="http://schemas.openxmlformats.org/drawingml/2006/main" noGrp="1"/>
          </p:cNvSpPr>
          <p:nvPr/>
        </p:nvSpPr>
        <p:spPr>
          <a:xfrm xmlns:a="http://schemas.openxmlformats.org/drawingml/2006/main">
            <a:off x="8305800" y="49530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7.35M</a:t>
            </a:r>
          </a:p>
        </p:txBody>
      </p:sp>
      <p:sp>
        <p:nvSpPr>
          <p:cNvPr id="25" name="">
            <a:extLst xmlns:a="http://schemas.openxmlformats.org/drawingml/2006/main">
              <a:ext uri="{FF2B5EF4-FFF2-40B4-BE49-F238E27FC236}">
                <a16:creationId xmlns:a16="http://schemas.microsoft.com/office/drawing/2014/main" id="{E7DDEBCC-F34B-4DD8-83CB-17F17BEB5EE5}"/>
              </a:ext>
            </a:extLst>
          </p:cNvPr>
          <p:cNvSpPr>
            <a:spLocks xmlns:a="http://schemas.openxmlformats.org/drawingml/2006/main" noGrp="1"/>
          </p:cNvSpPr>
          <p:nvPr/>
        </p:nvSpPr>
        <p:spPr>
          <a:xfrm xmlns:a="http://schemas.openxmlformats.org/drawingml/2006/main">
            <a:off x="8305800" y="53530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Top 10% threshold</a:t>
            </a:r>
          </a:p>
        </p:txBody>
      </p:sp>
      <p:sp>
        <p:nvSpPr>
          <p:cNvPr id="26" name="">
            <a:extLst xmlns:a="http://schemas.openxmlformats.org/drawingml/2006/main">
              <a:ext uri="{FF2B5EF4-FFF2-40B4-BE49-F238E27FC236}">
                <a16:creationId xmlns:a16="http://schemas.microsoft.com/office/drawing/2014/main" id="{1BF3437F-8FB2-4710-B00C-B611F27B1638}"/>
              </a:ext>
            </a:extLst>
          </p:cNvPr>
          <p:cNvSpPr>
            <a:spLocks xmlns:a="http://schemas.openxmlformats.org/drawingml/2006/main" noGrp="1"/>
          </p:cNvSpPr>
          <p:nvPr/>
        </p:nvSpPr>
        <p:spPr>
          <a:xfrm xmlns:a="http://schemas.openxmlformats.org/drawingml/2006/main">
            <a:off x="8115300" y="5867400"/>
            <a:ext cx="3486150" cy="552450"/>
          </a:xfrm>
          <a:prstGeom xmlns:a="http://schemas.openxmlformats.org/drawingml/2006/main" prst="roundRect">
            <a:avLst>
              <a:gd name="adj" fmla="val 1379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840B6037-3F88-47ED-AF24-56C01DE9D446}"/>
              </a:ext>
            </a:extLst>
          </p:cNvPr>
          <p:cNvSpPr>
            <a:spLocks xmlns:a="http://schemas.openxmlformats.org/drawingml/2006/main" noGrp="1"/>
          </p:cNvSpPr>
          <p:nvPr/>
        </p:nvSpPr>
        <p:spPr>
          <a:xfrm xmlns:a="http://schemas.openxmlformats.org/drawingml/2006/main">
            <a:off x="8115300" y="5867400"/>
            <a:ext cx="76200" cy="5524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4CF29A9-B473-40C2-B149-8A197A3C4C35}"/>
              </a:ext>
            </a:extLst>
          </p:cNvPr>
          <p:cNvSpPr>
            <a:spLocks xmlns:a="http://schemas.openxmlformats.org/drawingml/2006/main" noGrp="1"/>
          </p:cNvSpPr>
          <p:nvPr/>
        </p:nvSpPr>
        <p:spPr>
          <a:xfrm xmlns:a="http://schemas.openxmlformats.org/drawingml/2006/main">
            <a:off x="8305800" y="5981700"/>
            <a:ext cx="3105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Takeaway</a:t>
            </a:r>
          </a:p>
        </p:txBody>
      </p:sp>
      <p:sp>
        <p:nvSpPr>
          <p:cNvPr id="29" name="">
            <a:extLst xmlns:a="http://schemas.openxmlformats.org/drawingml/2006/main">
              <a:ext uri="{FF2B5EF4-FFF2-40B4-BE49-F238E27FC236}">
                <a16:creationId xmlns:a16="http://schemas.microsoft.com/office/drawing/2014/main" id="{DA44F9BD-7EB1-4FA6-8A33-A752C4156792}"/>
              </a:ext>
            </a:extLst>
          </p:cNvPr>
          <p:cNvSpPr>
            <a:spLocks xmlns:a="http://schemas.openxmlformats.org/drawingml/2006/main" noGrp="1"/>
          </p:cNvSpPr>
          <p:nvPr/>
        </p:nvSpPr>
        <p:spPr>
          <a:xfrm xmlns:a="http://schemas.openxmlformats.org/drawingml/2006/main">
            <a:off x="8305800" y="6153150"/>
            <a:ext cx="3105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01214"/>
                </a:solidFill>
              </a:defRPr>
            </a:pPr>
            <a:r>
              <a:rPr sz="975" b="0">
                <a:solidFill>
                  <a:srgbClr val="101214"/>
                </a:solidFill>
              </a:rPr>
              <a:t>Distinct premium tier.</a:t>
            </a:r>
          </a:p>
        </p:txBody>
      </p:sp>
      <p:sp>
        <p:nvSpPr>
          <p:cNvPr id="30" name="">
            <a:extLst xmlns:a="http://schemas.openxmlformats.org/drawingml/2006/main">
              <a:ext uri="{FF2B5EF4-FFF2-40B4-BE49-F238E27FC236}">
                <a16:creationId xmlns:a16="http://schemas.microsoft.com/office/drawing/2014/main" id="{D76093F5-FD17-4E5A-845E-3AA70668135C}"/>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Source: Housing.xlsx | Prices shown in millions</a:t>
            </a:r>
          </a:p>
        </p:txBody>
      </p:sp>
    </p:spTree>
    <p:extLst>
      <p:ext uri="{BB962C8B-B14F-4D97-AF65-F5344CB8AC3E}">
        <p14:creationId xmlns:p14="http://schemas.microsoft.com/office/powerpoint/2010/main" val="513382539"/>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68454A6-34CC-4712-8DEC-0DFFCC595BC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1FEDAC8-4563-4B34-A71A-4B011AFF55E5}"/>
              </a:ext>
            </a:extLst>
          </p:cNvPr>
          <p:cNvSpPr>
            <a:spLocks xmlns:a="http://schemas.openxmlformats.org/drawingml/2006/main" noGrp="1"/>
          </p:cNvSpPr>
          <p:nvPr/>
        </p:nvSpPr>
        <p:spPr>
          <a:xfrm xmlns:a="http://schemas.openxmlformats.org/drawingml/2006/main">
            <a:off x="9334500" y="-762000"/>
            <a:ext cx="3048000" cy="3048000"/>
          </a:xfrm>
          <a:prstGeom xmlns:a="http://schemas.openxmlformats.org/drawingml/2006/main" prst="ellipse">
            <a:avLst/>
          </a:prstGeom>
          <a:solidFill xmlns:a="http://schemas.openxmlformats.org/drawingml/2006/main">
            <a:srgbClr val="E4F3E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7143D2-5B6B-4421-9132-AE9CE763492D}"/>
              </a:ext>
            </a:extLst>
          </p:cNvPr>
          <p:cNvSpPr>
            <a:spLocks xmlns:a="http://schemas.openxmlformats.org/drawingml/2006/main" noGrp="1"/>
          </p:cNvSpPr>
          <p:nvPr/>
        </p:nvSpPr>
        <p:spPr>
          <a:xfrm xmlns:a="http://schemas.openxmlformats.org/drawingml/2006/main">
            <a:off x="-1143000" y="5429250"/>
            <a:ext cx="2857500" cy="2095500"/>
          </a:xfrm>
          <a:prstGeom xmlns:a="http://schemas.openxmlformats.org/drawingml/2006/main" prst="ellipse">
            <a:avLst/>
          </a:prstGeom>
          <a:solidFill xmlns:a="http://schemas.openxmlformats.org/drawingml/2006/main">
            <a:srgbClr val="F5E7C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174FF79-6A91-478B-BE34-8AF85277B7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6FE3381-3646-4830-8B98-15C848FC3E26}"/>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BASE VALUE</a:t>
            </a:r>
          </a:p>
        </p:txBody>
      </p:sp>
      <p:sp>
        <p:nvSpPr>
          <p:cNvPr id="6" name="">
            <a:extLst xmlns:a="http://schemas.openxmlformats.org/drawingml/2006/main">
              <a:ext uri="{FF2B5EF4-FFF2-40B4-BE49-F238E27FC236}">
                <a16:creationId xmlns:a16="http://schemas.microsoft.com/office/drawing/2014/main" id="{A7FF07FA-50B4-414A-9045-ED88F45F1703}"/>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03 / 05</a:t>
            </a:r>
          </a:p>
        </p:txBody>
      </p:sp>
      <p:sp>
        <p:nvSpPr>
          <p:cNvPr id="7" name="">
            <a:extLst xmlns:a="http://schemas.openxmlformats.org/drawingml/2006/main">
              <a:ext uri="{FF2B5EF4-FFF2-40B4-BE49-F238E27FC236}">
                <a16:creationId xmlns:a16="http://schemas.microsoft.com/office/drawing/2014/main" id="{B3557C3C-0801-41A2-A026-35890C1E861D}"/>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4BB0830-6BA4-4A62-BDD2-CAFA59920233}"/>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9" name="">
            <a:extLst xmlns:a="http://schemas.openxmlformats.org/drawingml/2006/main">
              <a:ext uri="{FF2B5EF4-FFF2-40B4-BE49-F238E27FC236}">
                <a16:creationId xmlns:a16="http://schemas.microsoft.com/office/drawing/2014/main" id="{DF7F1309-D0F1-4AFE-805E-CDC980668548}"/>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Space And Layout Set The Base Price</a:t>
            </a:r>
          </a:p>
        </p:txBody>
      </p:sp>
      <p:sp>
        <p:nvSpPr>
          <p:cNvPr id="10" name="">
            <a:extLst xmlns:a="http://schemas.openxmlformats.org/drawingml/2006/main">
              <a:ext uri="{FF2B5EF4-FFF2-40B4-BE49-F238E27FC236}">
                <a16:creationId xmlns:a16="http://schemas.microsoft.com/office/drawing/2014/main" id="{6AB69C53-F8CA-4379-A675-02786A40D9A5}"/>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Area is the strongest numeric signal, with bathrooms close behind.</a:t>
            </a:r>
          </a:p>
        </p:txBody>
      </p:sp>
      <p:sp>
        <p:nvSpPr>
          <p:cNvPr id="11" name="">
            <a:extLst xmlns:a="http://schemas.openxmlformats.org/drawingml/2006/main">
              <a:ext uri="{FF2B5EF4-FFF2-40B4-BE49-F238E27FC236}">
                <a16:creationId xmlns:a16="http://schemas.microsoft.com/office/drawing/2014/main" id="{BA2B8CA7-60CC-44B6-9C45-68835D260A6F}"/>
              </a:ext>
            </a:extLst>
          </p:cNvPr>
          <p:cNvSpPr>
            <a:spLocks xmlns:a="http://schemas.openxmlformats.org/drawingml/2006/main" noGrp="1"/>
          </p:cNvSpPr>
          <p:nvPr/>
        </p:nvSpPr>
        <p:spPr>
          <a:xfrm xmlns:a="http://schemas.openxmlformats.org/drawingml/2006/main">
            <a:off x="609600" y="2743200"/>
            <a:ext cx="7239000" cy="320040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11430">
            <a:solidFill>
              <a:srgbClr val="101214"/>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c78ae8d47b24a5f"/>
          <a:stretch xmlns:a="http://schemas.openxmlformats.org/drawingml/2006/main"/>
        </p:blipFill>
        <p:spPr>
          <a:xfrm xmlns:a="http://schemas.openxmlformats.org/drawingml/2006/main">
            <a:off x="1858433" y="2914650"/>
            <a:ext cx="4741333" cy="2667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FBFA6B3-2F79-4DBE-BF1F-86AC4054AEDD}"/>
              </a:ext>
            </a:extLst>
          </p:cNvPr>
          <p:cNvSpPr>
            <a:spLocks xmlns:a="http://schemas.openxmlformats.org/drawingml/2006/main" noGrp="1"/>
          </p:cNvSpPr>
          <p:nvPr/>
        </p:nvSpPr>
        <p:spPr>
          <a:xfrm xmlns:a="http://schemas.openxmlformats.org/drawingml/2006/main">
            <a:off x="800100" y="567690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Area versus price from the Python project.</a:t>
            </a:r>
          </a:p>
        </p:txBody>
      </p:sp>
      <p:sp>
        <p:nvSpPr>
          <p:cNvPr id="14" name="">
            <a:extLst xmlns:a="http://schemas.openxmlformats.org/drawingml/2006/main">
              <a:ext uri="{FF2B5EF4-FFF2-40B4-BE49-F238E27FC236}">
                <a16:creationId xmlns:a16="http://schemas.microsoft.com/office/drawing/2014/main" id="{D161B004-617B-4BDA-9ED0-5081C43A9805}"/>
              </a:ext>
            </a:extLst>
          </p:cNvPr>
          <p:cNvSpPr>
            <a:spLocks xmlns:a="http://schemas.openxmlformats.org/drawingml/2006/main" noGrp="1"/>
          </p:cNvSpPr>
          <p:nvPr/>
        </p:nvSpPr>
        <p:spPr>
          <a:xfrm xmlns:a="http://schemas.openxmlformats.org/drawingml/2006/main">
            <a:off x="8115300" y="27432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5" name="">
            <a:extLst xmlns:a="http://schemas.openxmlformats.org/drawingml/2006/main">
              <a:ext uri="{FF2B5EF4-FFF2-40B4-BE49-F238E27FC236}">
                <a16:creationId xmlns:a16="http://schemas.microsoft.com/office/drawing/2014/main" id="{526EDD07-EC72-45AF-A15F-9089CE12864E}"/>
              </a:ext>
            </a:extLst>
          </p:cNvPr>
          <p:cNvSpPr>
            <a:spLocks xmlns:a="http://schemas.openxmlformats.org/drawingml/2006/main" noGrp="1"/>
          </p:cNvSpPr>
          <p:nvPr/>
        </p:nvSpPr>
        <p:spPr>
          <a:xfrm xmlns:a="http://schemas.openxmlformats.org/drawingml/2006/main">
            <a:off x="8115300" y="2743200"/>
            <a:ext cx="3486150" cy="571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3450D2E-BB2A-4775-96BC-082981A33FF2}"/>
              </a:ext>
            </a:extLst>
          </p:cNvPr>
          <p:cNvSpPr>
            <a:spLocks xmlns:a="http://schemas.openxmlformats.org/drawingml/2006/main" noGrp="1"/>
          </p:cNvSpPr>
          <p:nvPr/>
        </p:nvSpPr>
        <p:spPr>
          <a:xfrm xmlns:a="http://schemas.openxmlformats.org/drawingml/2006/main">
            <a:off x="8305800" y="28956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0.536</a:t>
            </a:r>
          </a:p>
        </p:txBody>
      </p:sp>
      <p:sp>
        <p:nvSpPr>
          <p:cNvPr id="17" name="">
            <a:extLst xmlns:a="http://schemas.openxmlformats.org/drawingml/2006/main">
              <a:ext uri="{FF2B5EF4-FFF2-40B4-BE49-F238E27FC236}">
                <a16:creationId xmlns:a16="http://schemas.microsoft.com/office/drawing/2014/main" id="{C9735F8D-B122-4033-9CB4-B927F72D23B6}"/>
              </a:ext>
            </a:extLst>
          </p:cNvPr>
          <p:cNvSpPr>
            <a:spLocks xmlns:a="http://schemas.openxmlformats.org/drawingml/2006/main" noGrp="1"/>
          </p:cNvSpPr>
          <p:nvPr/>
        </p:nvSpPr>
        <p:spPr>
          <a:xfrm xmlns:a="http://schemas.openxmlformats.org/drawingml/2006/main">
            <a:off x="8305800" y="32956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Correlation between area and price</a:t>
            </a:r>
          </a:p>
        </p:txBody>
      </p:sp>
      <p:sp>
        <p:nvSpPr>
          <p:cNvPr id="18" name="">
            <a:extLst xmlns:a="http://schemas.openxmlformats.org/drawingml/2006/main">
              <a:ext uri="{FF2B5EF4-FFF2-40B4-BE49-F238E27FC236}">
                <a16:creationId xmlns:a16="http://schemas.microsoft.com/office/drawing/2014/main" id="{4A13E237-02C1-4472-A4F8-05AF168A3174}"/>
              </a:ext>
            </a:extLst>
          </p:cNvPr>
          <p:cNvSpPr>
            <a:spLocks xmlns:a="http://schemas.openxmlformats.org/drawingml/2006/main" noGrp="1"/>
          </p:cNvSpPr>
          <p:nvPr/>
        </p:nvSpPr>
        <p:spPr>
          <a:xfrm xmlns:a="http://schemas.openxmlformats.org/drawingml/2006/main">
            <a:off x="8115300" y="37719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B59D6EE5-340D-4776-A952-0835FD07DBFD}"/>
              </a:ext>
            </a:extLst>
          </p:cNvPr>
          <p:cNvSpPr>
            <a:spLocks xmlns:a="http://schemas.openxmlformats.org/drawingml/2006/main" noGrp="1"/>
          </p:cNvSpPr>
          <p:nvPr/>
        </p:nvSpPr>
        <p:spPr>
          <a:xfrm xmlns:a="http://schemas.openxmlformats.org/drawingml/2006/main">
            <a:off x="8115300" y="3771900"/>
            <a:ext cx="3486150" cy="5715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F30F63F-3BD0-4BC7-9916-17342D6BE3A0}"/>
              </a:ext>
            </a:extLst>
          </p:cNvPr>
          <p:cNvSpPr>
            <a:spLocks xmlns:a="http://schemas.openxmlformats.org/drawingml/2006/main" noGrp="1"/>
          </p:cNvSpPr>
          <p:nvPr/>
        </p:nvSpPr>
        <p:spPr>
          <a:xfrm xmlns:a="http://schemas.openxmlformats.org/drawingml/2006/main">
            <a:off x="8305800" y="39243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0.518</a:t>
            </a:r>
          </a:p>
        </p:txBody>
      </p:sp>
      <p:sp>
        <p:nvSpPr>
          <p:cNvPr id="21" name="">
            <a:extLst xmlns:a="http://schemas.openxmlformats.org/drawingml/2006/main">
              <a:ext uri="{FF2B5EF4-FFF2-40B4-BE49-F238E27FC236}">
                <a16:creationId xmlns:a16="http://schemas.microsoft.com/office/drawing/2014/main" id="{062179A7-9D23-491A-81E4-A72F6A822A6B}"/>
              </a:ext>
            </a:extLst>
          </p:cNvPr>
          <p:cNvSpPr>
            <a:spLocks xmlns:a="http://schemas.openxmlformats.org/drawingml/2006/main" noGrp="1"/>
          </p:cNvSpPr>
          <p:nvPr/>
        </p:nvSpPr>
        <p:spPr>
          <a:xfrm xmlns:a="http://schemas.openxmlformats.org/drawingml/2006/main">
            <a:off x="8305800" y="43243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Correlation between bathrooms and price</a:t>
            </a:r>
          </a:p>
        </p:txBody>
      </p:sp>
      <p:sp>
        <p:nvSpPr>
          <p:cNvPr id="22" name="">
            <a:extLst xmlns:a="http://schemas.openxmlformats.org/drawingml/2006/main">
              <a:ext uri="{FF2B5EF4-FFF2-40B4-BE49-F238E27FC236}">
                <a16:creationId xmlns:a16="http://schemas.microsoft.com/office/drawing/2014/main" id="{A877CAA2-9E9C-42B9-ADA1-B1A18056C891}"/>
              </a:ext>
            </a:extLst>
          </p:cNvPr>
          <p:cNvSpPr>
            <a:spLocks xmlns:a="http://schemas.openxmlformats.org/drawingml/2006/main" noGrp="1"/>
          </p:cNvSpPr>
          <p:nvPr/>
        </p:nvSpPr>
        <p:spPr>
          <a:xfrm xmlns:a="http://schemas.openxmlformats.org/drawingml/2006/main">
            <a:off x="8115300" y="4800600"/>
            <a:ext cx="3486150" cy="914400"/>
          </a:xfrm>
          <a:prstGeom xmlns:a="http://schemas.openxmlformats.org/drawingml/2006/main" prst="roundRect">
            <a:avLst>
              <a:gd name="adj" fmla="val 833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3" name="">
            <a:extLst xmlns:a="http://schemas.openxmlformats.org/drawingml/2006/main">
              <a:ext uri="{FF2B5EF4-FFF2-40B4-BE49-F238E27FC236}">
                <a16:creationId xmlns:a16="http://schemas.microsoft.com/office/drawing/2014/main" id="{F897C2D6-2355-421B-8E74-84EBECBDFA12}"/>
              </a:ext>
            </a:extLst>
          </p:cNvPr>
          <p:cNvSpPr>
            <a:spLocks xmlns:a="http://schemas.openxmlformats.org/drawingml/2006/main" noGrp="1"/>
          </p:cNvSpPr>
          <p:nvPr/>
        </p:nvSpPr>
        <p:spPr>
          <a:xfrm xmlns:a="http://schemas.openxmlformats.org/drawingml/2006/main">
            <a:off x="8115300" y="4800600"/>
            <a:ext cx="3486150" cy="57150"/>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1F1C508-98F8-42F7-B727-1EEA5E7678F6}"/>
              </a:ext>
            </a:extLst>
          </p:cNvPr>
          <p:cNvSpPr>
            <a:spLocks xmlns:a="http://schemas.openxmlformats.org/drawingml/2006/main" noGrp="1"/>
          </p:cNvSpPr>
          <p:nvPr/>
        </p:nvSpPr>
        <p:spPr>
          <a:xfrm xmlns:a="http://schemas.openxmlformats.org/drawingml/2006/main">
            <a:off x="8305800" y="49530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3.54M to 6.22M</a:t>
            </a:r>
          </a:p>
        </p:txBody>
      </p:sp>
      <p:sp>
        <p:nvSpPr>
          <p:cNvPr id="25" name="">
            <a:extLst xmlns:a="http://schemas.openxmlformats.org/drawingml/2006/main">
              <a:ext uri="{FF2B5EF4-FFF2-40B4-BE49-F238E27FC236}">
                <a16:creationId xmlns:a16="http://schemas.microsoft.com/office/drawing/2014/main" id="{A7C8AB51-3EDA-4799-A51F-F6CD511EF117}"/>
              </a:ext>
            </a:extLst>
          </p:cNvPr>
          <p:cNvSpPr>
            <a:spLocks xmlns:a="http://schemas.openxmlformats.org/drawingml/2006/main" noGrp="1"/>
          </p:cNvSpPr>
          <p:nvPr/>
        </p:nvSpPr>
        <p:spPr>
          <a:xfrm xmlns:a="http://schemas.openxmlformats.org/drawingml/2006/main">
            <a:off x="8305800" y="53530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Mean price from the smallest to largest area quartile</a:t>
            </a:r>
          </a:p>
        </p:txBody>
      </p:sp>
      <p:sp>
        <p:nvSpPr>
          <p:cNvPr id="26" name="">
            <a:extLst xmlns:a="http://schemas.openxmlformats.org/drawingml/2006/main">
              <a:ext uri="{FF2B5EF4-FFF2-40B4-BE49-F238E27FC236}">
                <a16:creationId xmlns:a16="http://schemas.microsoft.com/office/drawing/2014/main" id="{6BC2969F-5A02-4AE7-95E1-2E83E1C0E037}"/>
              </a:ext>
            </a:extLst>
          </p:cNvPr>
          <p:cNvSpPr>
            <a:spLocks xmlns:a="http://schemas.openxmlformats.org/drawingml/2006/main" noGrp="1"/>
          </p:cNvSpPr>
          <p:nvPr/>
        </p:nvSpPr>
        <p:spPr>
          <a:xfrm xmlns:a="http://schemas.openxmlformats.org/drawingml/2006/main">
            <a:off x="8115300" y="5867400"/>
            <a:ext cx="3486150" cy="552450"/>
          </a:xfrm>
          <a:prstGeom xmlns:a="http://schemas.openxmlformats.org/drawingml/2006/main" prst="roundRect">
            <a:avLst>
              <a:gd name="adj" fmla="val 1379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27E2BB64-9831-4CFE-A8E6-D123F8240E61}"/>
              </a:ext>
            </a:extLst>
          </p:cNvPr>
          <p:cNvSpPr>
            <a:spLocks xmlns:a="http://schemas.openxmlformats.org/drawingml/2006/main" noGrp="1"/>
          </p:cNvSpPr>
          <p:nvPr/>
        </p:nvSpPr>
        <p:spPr>
          <a:xfrm xmlns:a="http://schemas.openxmlformats.org/drawingml/2006/main">
            <a:off x="8115300" y="5867400"/>
            <a:ext cx="76200" cy="5524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007F710-3292-4DC3-B59D-34BDB1D2DA57}"/>
              </a:ext>
            </a:extLst>
          </p:cNvPr>
          <p:cNvSpPr>
            <a:spLocks xmlns:a="http://schemas.openxmlformats.org/drawingml/2006/main" noGrp="1"/>
          </p:cNvSpPr>
          <p:nvPr/>
        </p:nvSpPr>
        <p:spPr>
          <a:xfrm xmlns:a="http://schemas.openxmlformats.org/drawingml/2006/main">
            <a:off x="8305800" y="5981700"/>
            <a:ext cx="3105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Interpretation</a:t>
            </a:r>
          </a:p>
        </p:txBody>
      </p:sp>
      <p:sp>
        <p:nvSpPr>
          <p:cNvPr id="29" name="">
            <a:extLst xmlns:a="http://schemas.openxmlformats.org/drawingml/2006/main">
              <a:ext uri="{FF2B5EF4-FFF2-40B4-BE49-F238E27FC236}">
                <a16:creationId xmlns:a16="http://schemas.microsoft.com/office/drawing/2014/main" id="{0706DB1A-EB5B-4691-9E12-A122078C7646}"/>
              </a:ext>
            </a:extLst>
          </p:cNvPr>
          <p:cNvSpPr>
            <a:spLocks xmlns:a="http://schemas.openxmlformats.org/drawingml/2006/main" noGrp="1"/>
          </p:cNvSpPr>
          <p:nvPr/>
        </p:nvSpPr>
        <p:spPr>
          <a:xfrm xmlns:a="http://schemas.openxmlformats.org/drawingml/2006/main">
            <a:off x="8305800" y="6153150"/>
            <a:ext cx="3105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01214"/>
                </a:solidFill>
              </a:defRPr>
            </a:pPr>
            <a:r>
              <a:rPr sz="975" b="0">
                <a:solidFill>
                  <a:srgbClr val="101214"/>
                </a:solidFill>
              </a:rPr>
              <a:t>Base price driver.</a:t>
            </a:r>
          </a:p>
        </p:txBody>
      </p:sp>
      <p:sp>
        <p:nvSpPr>
          <p:cNvPr id="30" name="">
            <a:extLst xmlns:a="http://schemas.openxmlformats.org/drawingml/2006/main">
              <a:ext uri="{FF2B5EF4-FFF2-40B4-BE49-F238E27FC236}">
                <a16:creationId xmlns:a16="http://schemas.microsoft.com/office/drawing/2014/main" id="{BA69E83A-F6DE-4EB0-838E-9F2CA626E036}"/>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Source: Housing.xlsx | Prices shown in millions</a:t>
            </a:r>
          </a:p>
        </p:txBody>
      </p:sp>
    </p:spTree>
    <p:extLst>
      <p:ext uri="{BB962C8B-B14F-4D97-AF65-F5344CB8AC3E}">
        <p14:creationId xmlns:p14="http://schemas.microsoft.com/office/powerpoint/2010/main" val="1120568270"/>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68454A6-34CC-4712-8DEC-0DFFCC595BC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BBBCB80-DD9C-49F1-B8A7-9A7A8A479FF5}"/>
              </a:ext>
            </a:extLst>
          </p:cNvPr>
          <p:cNvSpPr>
            <a:spLocks xmlns:a="http://schemas.openxmlformats.org/drawingml/2006/main" noGrp="1"/>
          </p:cNvSpPr>
          <p:nvPr/>
        </p:nvSpPr>
        <p:spPr>
          <a:xfrm xmlns:a="http://schemas.openxmlformats.org/drawingml/2006/main">
            <a:off x="9334500" y="-762000"/>
            <a:ext cx="3048000" cy="3048000"/>
          </a:xfrm>
          <a:prstGeom xmlns:a="http://schemas.openxmlformats.org/drawingml/2006/main" prst="ellipse">
            <a:avLst/>
          </a:prstGeom>
          <a:solidFill xmlns:a="http://schemas.openxmlformats.org/drawingml/2006/main">
            <a:srgbClr val="E4F3E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8D2A2BF-5129-4DE1-840C-F1470C061820}"/>
              </a:ext>
            </a:extLst>
          </p:cNvPr>
          <p:cNvSpPr>
            <a:spLocks xmlns:a="http://schemas.openxmlformats.org/drawingml/2006/main" noGrp="1"/>
          </p:cNvSpPr>
          <p:nvPr/>
        </p:nvSpPr>
        <p:spPr>
          <a:xfrm xmlns:a="http://schemas.openxmlformats.org/drawingml/2006/main">
            <a:off x="-1143000" y="5429250"/>
            <a:ext cx="2857500" cy="2095500"/>
          </a:xfrm>
          <a:prstGeom xmlns:a="http://schemas.openxmlformats.org/drawingml/2006/main" prst="ellipse">
            <a:avLst/>
          </a:prstGeom>
          <a:solidFill xmlns:a="http://schemas.openxmlformats.org/drawingml/2006/main">
            <a:srgbClr val="F5E7C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F572F86-CEA9-4E21-A16F-C774C275DA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EDE9A69-10F8-4270-9558-31F6FD6A7C4D}"/>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PREMIUM SIGNALS</a:t>
            </a:r>
          </a:p>
        </p:txBody>
      </p:sp>
      <p:sp>
        <p:nvSpPr>
          <p:cNvPr id="6" name="">
            <a:extLst xmlns:a="http://schemas.openxmlformats.org/drawingml/2006/main">
              <a:ext uri="{FF2B5EF4-FFF2-40B4-BE49-F238E27FC236}">
                <a16:creationId xmlns:a16="http://schemas.microsoft.com/office/drawing/2014/main" id="{2A8CF19B-8159-4741-8E09-C32D149C70F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04 / 05</a:t>
            </a:r>
          </a:p>
        </p:txBody>
      </p:sp>
      <p:sp>
        <p:nvSpPr>
          <p:cNvPr id="7" name="">
            <a:extLst xmlns:a="http://schemas.openxmlformats.org/drawingml/2006/main">
              <a:ext uri="{FF2B5EF4-FFF2-40B4-BE49-F238E27FC236}">
                <a16:creationId xmlns:a16="http://schemas.microsoft.com/office/drawing/2014/main" id="{07F1122B-00B9-4026-AE03-283D18894FAE}"/>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86E373C-6200-4034-BBDF-028B9F0ECBD0}"/>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9" name="">
            <a:extLst xmlns:a="http://schemas.openxmlformats.org/drawingml/2006/main">
              <a:ext uri="{FF2B5EF4-FFF2-40B4-BE49-F238E27FC236}">
                <a16:creationId xmlns:a16="http://schemas.microsoft.com/office/drawing/2014/main" id="{A665781F-F1AB-41F6-889C-AB23741DF5F7}"/>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Amenities And Accessibility Create The Premium Gap</a:t>
            </a:r>
          </a:p>
        </p:txBody>
      </p:sp>
      <p:sp>
        <p:nvSpPr>
          <p:cNvPr id="10" name="">
            <a:extLst xmlns:a="http://schemas.openxmlformats.org/drawingml/2006/main">
              <a:ext uri="{FF2B5EF4-FFF2-40B4-BE49-F238E27FC236}">
                <a16:creationId xmlns:a16="http://schemas.microsoft.com/office/drawing/2014/main" id="{6699D889-6C08-4FF6-B365-09D52B8403D5}"/>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Comfort and convenience features are strongly associated with higher prices.</a:t>
            </a:r>
          </a:p>
        </p:txBody>
      </p:sp>
      <p:sp>
        <p:nvSpPr>
          <p:cNvPr id="11" name="">
            <a:extLst xmlns:a="http://schemas.openxmlformats.org/drawingml/2006/main">
              <a:ext uri="{FF2B5EF4-FFF2-40B4-BE49-F238E27FC236}">
                <a16:creationId xmlns:a16="http://schemas.microsoft.com/office/drawing/2014/main" id="{A9937A84-91A6-48D6-AE0A-E8A3C763859D}"/>
              </a:ext>
            </a:extLst>
          </p:cNvPr>
          <p:cNvSpPr>
            <a:spLocks xmlns:a="http://schemas.openxmlformats.org/drawingml/2006/main" noGrp="1"/>
          </p:cNvSpPr>
          <p:nvPr/>
        </p:nvSpPr>
        <p:spPr>
          <a:xfrm xmlns:a="http://schemas.openxmlformats.org/drawingml/2006/main">
            <a:off x="609600" y="2743200"/>
            <a:ext cx="7239000" cy="2686050"/>
          </a:xfrm>
          <a:prstGeom xmlns:a="http://schemas.openxmlformats.org/drawingml/2006/main" prst="roundRect">
            <a:avLst>
              <a:gd name="adj" fmla="val 2837"/>
            </a:avLst>
          </a:prstGeom>
          <a:solidFill xmlns:a="http://schemas.openxmlformats.org/drawingml/2006/main">
            <a:srgbClr val="FFFFFF"/>
          </a:solidFill>
          <a:ln xmlns:a="http://schemas.openxmlformats.org/drawingml/2006/main" w="11430">
            <a:solidFill>
              <a:srgbClr val="101214"/>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16ebfb771424b14"/>
          <a:stretch xmlns:a="http://schemas.openxmlformats.org/drawingml/2006/main"/>
        </p:blipFill>
        <p:spPr>
          <a:xfrm xmlns:a="http://schemas.openxmlformats.org/drawingml/2006/main">
            <a:off x="2315633" y="2914650"/>
            <a:ext cx="3826933" cy="2152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CA2CF46-75D3-4E84-80B6-F5C5C444CE38}"/>
              </a:ext>
            </a:extLst>
          </p:cNvPr>
          <p:cNvSpPr>
            <a:spLocks xmlns:a="http://schemas.openxmlformats.org/drawingml/2006/main" noGrp="1"/>
          </p:cNvSpPr>
          <p:nvPr/>
        </p:nvSpPr>
        <p:spPr>
          <a:xfrm xmlns:a="http://schemas.openxmlformats.org/drawingml/2006/main">
            <a:off x="800100" y="5162550"/>
            <a:ext cx="6858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Amenity premium chart exported from the Python project.</a:t>
            </a:r>
          </a:p>
        </p:txBody>
      </p:sp>
      <p:sp>
        <p:nvSpPr>
          <p:cNvPr id="14" name="">
            <a:extLst xmlns:a="http://schemas.openxmlformats.org/drawingml/2006/main">
              <a:ext uri="{FF2B5EF4-FFF2-40B4-BE49-F238E27FC236}">
                <a16:creationId xmlns:a16="http://schemas.microsoft.com/office/drawing/2014/main" id="{B12F3EFB-7DE5-4BE9-AF0B-6C36ABA755BB}"/>
              </a:ext>
            </a:extLst>
          </p:cNvPr>
          <p:cNvSpPr>
            <a:spLocks xmlns:a="http://schemas.openxmlformats.org/drawingml/2006/main" noGrp="1"/>
          </p:cNvSpPr>
          <p:nvPr/>
        </p:nvSpPr>
        <p:spPr>
          <a:xfrm xmlns:a="http://schemas.openxmlformats.org/drawingml/2006/main">
            <a:off x="8115300" y="2743200"/>
            <a:ext cx="3486150" cy="876300"/>
          </a:xfrm>
          <a:prstGeom xmlns:a="http://schemas.openxmlformats.org/drawingml/2006/main" prst="roundRect">
            <a:avLst>
              <a:gd name="adj" fmla="val 8696"/>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5" name="">
            <a:extLst xmlns:a="http://schemas.openxmlformats.org/drawingml/2006/main">
              <a:ext uri="{FF2B5EF4-FFF2-40B4-BE49-F238E27FC236}">
                <a16:creationId xmlns:a16="http://schemas.microsoft.com/office/drawing/2014/main" id="{9365A34B-45C5-48E0-B9F7-24434413DEDA}"/>
              </a:ext>
            </a:extLst>
          </p:cNvPr>
          <p:cNvSpPr>
            <a:spLocks xmlns:a="http://schemas.openxmlformats.org/drawingml/2006/main" noGrp="1"/>
          </p:cNvSpPr>
          <p:nvPr/>
        </p:nvSpPr>
        <p:spPr>
          <a:xfrm xmlns:a="http://schemas.openxmlformats.org/drawingml/2006/main">
            <a:off x="8115300" y="2743200"/>
            <a:ext cx="3486150" cy="571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C4F876F-4DE1-4227-936E-93472F729C26}"/>
              </a:ext>
            </a:extLst>
          </p:cNvPr>
          <p:cNvSpPr>
            <a:spLocks xmlns:a="http://schemas.openxmlformats.org/drawingml/2006/main" noGrp="1"/>
          </p:cNvSpPr>
          <p:nvPr/>
        </p:nvSpPr>
        <p:spPr>
          <a:xfrm xmlns:a="http://schemas.openxmlformats.org/drawingml/2006/main">
            <a:off x="8305800" y="28956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+46.9%</a:t>
            </a:r>
          </a:p>
        </p:txBody>
      </p:sp>
      <p:sp>
        <p:nvSpPr>
          <p:cNvPr id="17" name="">
            <a:extLst xmlns:a="http://schemas.openxmlformats.org/drawingml/2006/main">
              <a:ext uri="{FF2B5EF4-FFF2-40B4-BE49-F238E27FC236}">
                <a16:creationId xmlns:a16="http://schemas.microsoft.com/office/drawing/2014/main" id="{69A4EBAC-73A7-4073-8B15-2F794CA0F80D}"/>
              </a:ext>
            </a:extLst>
          </p:cNvPr>
          <p:cNvSpPr>
            <a:spLocks xmlns:a="http://schemas.openxmlformats.org/drawingml/2006/main" noGrp="1"/>
          </p:cNvSpPr>
          <p:nvPr/>
        </p:nvSpPr>
        <p:spPr>
          <a:xfrm xmlns:a="http://schemas.openxmlformats.org/drawingml/2006/main">
            <a:off x="8305800" y="3295650"/>
            <a:ext cx="3105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Main-road access premium</a:t>
            </a:r>
          </a:p>
        </p:txBody>
      </p:sp>
      <p:sp>
        <p:nvSpPr>
          <p:cNvPr id="18" name="">
            <a:extLst xmlns:a="http://schemas.openxmlformats.org/drawingml/2006/main">
              <a:ext uri="{FF2B5EF4-FFF2-40B4-BE49-F238E27FC236}">
                <a16:creationId xmlns:a16="http://schemas.microsoft.com/office/drawing/2014/main" id="{511C84E2-B8A2-4CC4-B183-C1A7A4F894C4}"/>
              </a:ext>
            </a:extLst>
          </p:cNvPr>
          <p:cNvSpPr>
            <a:spLocks xmlns:a="http://schemas.openxmlformats.org/drawingml/2006/main" noGrp="1"/>
          </p:cNvSpPr>
          <p:nvPr/>
        </p:nvSpPr>
        <p:spPr>
          <a:xfrm xmlns:a="http://schemas.openxmlformats.org/drawingml/2006/main">
            <a:off x="8115300" y="3733800"/>
            <a:ext cx="3486150" cy="876300"/>
          </a:xfrm>
          <a:prstGeom xmlns:a="http://schemas.openxmlformats.org/drawingml/2006/main" prst="roundRect">
            <a:avLst>
              <a:gd name="adj" fmla="val 8696"/>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6ED423AD-1298-4CEC-BBAD-F24C700482F9}"/>
              </a:ext>
            </a:extLst>
          </p:cNvPr>
          <p:cNvSpPr>
            <a:spLocks xmlns:a="http://schemas.openxmlformats.org/drawingml/2006/main" noGrp="1"/>
          </p:cNvSpPr>
          <p:nvPr/>
        </p:nvSpPr>
        <p:spPr>
          <a:xfrm xmlns:a="http://schemas.openxmlformats.org/drawingml/2006/main">
            <a:off x="8115300" y="3733800"/>
            <a:ext cx="3486150" cy="5715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731320F-C7E9-4BE7-A759-8EAADAAB09E9}"/>
              </a:ext>
            </a:extLst>
          </p:cNvPr>
          <p:cNvSpPr>
            <a:spLocks xmlns:a="http://schemas.openxmlformats.org/drawingml/2006/main" noGrp="1"/>
          </p:cNvSpPr>
          <p:nvPr/>
        </p:nvSpPr>
        <p:spPr>
          <a:xfrm xmlns:a="http://schemas.openxmlformats.org/drawingml/2006/main">
            <a:off x="8305800" y="38862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+43.4%</a:t>
            </a:r>
          </a:p>
        </p:txBody>
      </p:sp>
      <p:sp>
        <p:nvSpPr>
          <p:cNvPr id="21" name="">
            <a:extLst xmlns:a="http://schemas.openxmlformats.org/drawingml/2006/main">
              <a:ext uri="{FF2B5EF4-FFF2-40B4-BE49-F238E27FC236}">
                <a16:creationId xmlns:a16="http://schemas.microsoft.com/office/drawing/2014/main" id="{D4626FA4-A8E1-4019-BF68-1A3D04192D3A}"/>
              </a:ext>
            </a:extLst>
          </p:cNvPr>
          <p:cNvSpPr>
            <a:spLocks xmlns:a="http://schemas.openxmlformats.org/drawingml/2006/main" noGrp="1"/>
          </p:cNvSpPr>
          <p:nvPr/>
        </p:nvSpPr>
        <p:spPr>
          <a:xfrm xmlns:a="http://schemas.openxmlformats.org/drawingml/2006/main">
            <a:off x="8305800" y="4286250"/>
            <a:ext cx="3105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Air-conditioning premium</a:t>
            </a:r>
          </a:p>
        </p:txBody>
      </p:sp>
      <p:sp>
        <p:nvSpPr>
          <p:cNvPr id="22" name="">
            <a:extLst xmlns:a="http://schemas.openxmlformats.org/drawingml/2006/main">
              <a:ext uri="{FF2B5EF4-FFF2-40B4-BE49-F238E27FC236}">
                <a16:creationId xmlns:a16="http://schemas.microsoft.com/office/drawing/2014/main" id="{FBBC4118-E919-44D7-9DB3-8E651F3B1EE9}"/>
              </a:ext>
            </a:extLst>
          </p:cNvPr>
          <p:cNvSpPr>
            <a:spLocks xmlns:a="http://schemas.openxmlformats.org/drawingml/2006/main" noGrp="1"/>
          </p:cNvSpPr>
          <p:nvPr/>
        </p:nvSpPr>
        <p:spPr>
          <a:xfrm xmlns:a="http://schemas.openxmlformats.org/drawingml/2006/main">
            <a:off x="8115300" y="4724400"/>
            <a:ext cx="3486150" cy="876300"/>
          </a:xfrm>
          <a:prstGeom xmlns:a="http://schemas.openxmlformats.org/drawingml/2006/main" prst="roundRect">
            <a:avLst>
              <a:gd name="adj" fmla="val 8696"/>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3" name="">
            <a:extLst xmlns:a="http://schemas.openxmlformats.org/drawingml/2006/main">
              <a:ext uri="{FF2B5EF4-FFF2-40B4-BE49-F238E27FC236}">
                <a16:creationId xmlns:a16="http://schemas.microsoft.com/office/drawing/2014/main" id="{A819B7F7-1EF4-4F71-AE11-84E0BA77D390}"/>
              </a:ext>
            </a:extLst>
          </p:cNvPr>
          <p:cNvSpPr>
            <a:spLocks xmlns:a="http://schemas.openxmlformats.org/drawingml/2006/main" noGrp="1"/>
          </p:cNvSpPr>
          <p:nvPr/>
        </p:nvSpPr>
        <p:spPr>
          <a:xfrm xmlns:a="http://schemas.openxmlformats.org/drawingml/2006/main">
            <a:off x="8115300" y="4724400"/>
            <a:ext cx="3486150" cy="57150"/>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C181803-7874-4D23-A798-61090D213279}"/>
              </a:ext>
            </a:extLst>
          </p:cNvPr>
          <p:cNvSpPr>
            <a:spLocks xmlns:a="http://schemas.openxmlformats.org/drawingml/2006/main" noGrp="1"/>
          </p:cNvSpPr>
          <p:nvPr/>
        </p:nvSpPr>
        <p:spPr>
          <a:xfrm xmlns:a="http://schemas.openxmlformats.org/drawingml/2006/main">
            <a:off x="8305800" y="4876800"/>
            <a:ext cx="3105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01214"/>
                </a:solidFill>
              </a:defRPr>
            </a:pPr>
            <a:r>
              <a:rPr sz="1950" b="1">
                <a:solidFill>
                  <a:srgbClr val="101214"/>
                </a:solidFill>
              </a:rPr>
              <a:t>+32.9%</a:t>
            </a:r>
          </a:p>
        </p:txBody>
      </p:sp>
      <p:sp>
        <p:nvSpPr>
          <p:cNvPr id="25" name="">
            <a:extLst xmlns:a="http://schemas.openxmlformats.org/drawingml/2006/main">
              <a:ext uri="{FF2B5EF4-FFF2-40B4-BE49-F238E27FC236}">
                <a16:creationId xmlns:a16="http://schemas.microsoft.com/office/drawing/2014/main" id="{4B16F427-8667-4C34-B494-9706827B26AF}"/>
              </a:ext>
            </a:extLst>
          </p:cNvPr>
          <p:cNvSpPr>
            <a:spLocks xmlns:a="http://schemas.openxmlformats.org/drawingml/2006/main" noGrp="1"/>
          </p:cNvSpPr>
          <p:nvPr/>
        </p:nvSpPr>
        <p:spPr>
          <a:xfrm xmlns:a="http://schemas.openxmlformats.org/drawingml/2006/main">
            <a:off x="8305800" y="5276850"/>
            <a:ext cx="3105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0363A"/>
                </a:solidFill>
              </a:defRPr>
            </a:pPr>
            <a:r>
              <a:rPr sz="1050" b="0">
                <a:solidFill>
                  <a:srgbClr val="30363A"/>
                </a:solidFill>
              </a:rPr>
              <a:t>Preferred-area premium</a:t>
            </a:r>
          </a:p>
        </p:txBody>
      </p:sp>
      <p:sp>
        <p:nvSpPr>
          <p:cNvPr id="26" name="">
            <a:extLst xmlns:a="http://schemas.openxmlformats.org/drawingml/2006/main">
              <a:ext uri="{FF2B5EF4-FFF2-40B4-BE49-F238E27FC236}">
                <a16:creationId xmlns:a16="http://schemas.microsoft.com/office/drawing/2014/main" id="{81B99AB2-F79A-454F-BF48-85E442D52860}"/>
              </a:ext>
            </a:extLst>
          </p:cNvPr>
          <p:cNvSpPr>
            <a:spLocks xmlns:a="http://schemas.openxmlformats.org/drawingml/2006/main" noGrp="1"/>
          </p:cNvSpPr>
          <p:nvPr/>
        </p:nvSpPr>
        <p:spPr>
          <a:xfrm xmlns:a="http://schemas.openxmlformats.org/drawingml/2006/main">
            <a:off x="609600" y="5562600"/>
            <a:ext cx="10991850" cy="704850"/>
          </a:xfrm>
          <a:prstGeom xmlns:a="http://schemas.openxmlformats.org/drawingml/2006/main" prst="roundRect">
            <a:avLst>
              <a:gd name="adj" fmla="val 10811"/>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51DA1188-8200-4E82-88C4-70A31BF5D9FE}"/>
              </a:ext>
            </a:extLst>
          </p:cNvPr>
          <p:cNvSpPr>
            <a:spLocks xmlns:a="http://schemas.openxmlformats.org/drawingml/2006/main" noGrp="1"/>
          </p:cNvSpPr>
          <p:nvPr/>
        </p:nvSpPr>
        <p:spPr>
          <a:xfrm xmlns:a="http://schemas.openxmlformats.org/drawingml/2006/main">
            <a:off x="609600" y="5562600"/>
            <a:ext cx="76200" cy="7048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D6DE43A-7671-4307-950C-9FC3FF2DE4C5}"/>
              </a:ext>
            </a:extLst>
          </p:cNvPr>
          <p:cNvSpPr>
            <a:spLocks xmlns:a="http://schemas.openxmlformats.org/drawingml/2006/main" noGrp="1"/>
          </p:cNvSpPr>
          <p:nvPr/>
        </p:nvSpPr>
        <p:spPr>
          <a:xfrm xmlns:a="http://schemas.openxmlformats.org/drawingml/2006/main">
            <a:off x="800100" y="5676900"/>
            <a:ext cx="10610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Furnishing status reinforces the same story</a:t>
            </a:r>
          </a:p>
        </p:txBody>
      </p:sp>
      <p:sp>
        <p:nvSpPr>
          <p:cNvPr id="29" name="">
            <a:extLst xmlns:a="http://schemas.openxmlformats.org/drawingml/2006/main">
              <a:ext uri="{FF2B5EF4-FFF2-40B4-BE49-F238E27FC236}">
                <a16:creationId xmlns:a16="http://schemas.microsoft.com/office/drawing/2014/main" id="{E8E276EA-52D4-4644-A65D-F92F0DBCDB07}"/>
              </a:ext>
            </a:extLst>
          </p:cNvPr>
          <p:cNvSpPr>
            <a:spLocks xmlns:a="http://schemas.openxmlformats.org/drawingml/2006/main" noGrp="1"/>
          </p:cNvSpPr>
          <p:nvPr/>
        </p:nvSpPr>
        <p:spPr>
          <a:xfrm xmlns:a="http://schemas.openxmlformats.org/drawingml/2006/main">
            <a:off x="800100" y="5848350"/>
            <a:ext cx="10610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01214"/>
                </a:solidFill>
              </a:defRPr>
            </a:pPr>
            <a:r>
              <a:rPr sz="975" b="0">
                <a:solidFill>
                  <a:srgbClr val="101214"/>
                </a:solidFill>
              </a:rPr>
              <a:t>Median price is 5.08M for furnished homes, 4.58M for semi-furnished homes, and 3.43M for</a:t>
            </a:r>
          </a:p>
          <a:p xmlns:a="http://schemas.openxmlformats.org/drawingml/2006/main">
            <a:pPr algn="l">
              <a:defRPr sz="975" b="0">
                <a:solidFill>
                  <a:srgbClr val="101214"/>
                </a:solidFill>
              </a:defRPr>
            </a:pPr>
            <a:r>
              <a:rPr sz="975" b="0">
                <a:solidFill>
                  <a:srgbClr val="101214"/>
                </a:solidFill>
              </a:rPr>
              <a:t>unfurnished homes.</a:t>
            </a:r>
          </a:p>
        </p:txBody>
      </p:sp>
      <p:sp>
        <p:nvSpPr>
          <p:cNvPr id="30" name="">
            <a:extLst xmlns:a="http://schemas.openxmlformats.org/drawingml/2006/main">
              <a:ext uri="{FF2B5EF4-FFF2-40B4-BE49-F238E27FC236}">
                <a16:creationId xmlns:a16="http://schemas.microsoft.com/office/drawing/2014/main" id="{A38F667B-C20F-4FDE-89A0-F059C51D79BE}"/>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Source: Housing.xlsx | Prices shown in millions</a:t>
            </a:r>
          </a:p>
        </p:txBody>
      </p:sp>
    </p:spTree>
    <p:extLst>
      <p:ext uri="{BB962C8B-B14F-4D97-AF65-F5344CB8AC3E}">
        <p14:creationId xmlns:p14="http://schemas.microsoft.com/office/powerpoint/2010/main" val="1519783948"/>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68454A6-34CC-4712-8DEC-0DFFCC595BC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6368CB6-405E-41D4-966C-122D62C29F0E}"/>
              </a:ext>
            </a:extLst>
          </p:cNvPr>
          <p:cNvSpPr>
            <a:spLocks xmlns:a="http://schemas.openxmlformats.org/drawingml/2006/main" noGrp="1"/>
          </p:cNvSpPr>
          <p:nvPr/>
        </p:nvSpPr>
        <p:spPr>
          <a:xfrm xmlns:a="http://schemas.openxmlformats.org/drawingml/2006/main">
            <a:off x="9334500" y="-762000"/>
            <a:ext cx="3048000" cy="3048000"/>
          </a:xfrm>
          <a:prstGeom xmlns:a="http://schemas.openxmlformats.org/drawingml/2006/main" prst="ellipse">
            <a:avLst/>
          </a:prstGeom>
          <a:solidFill xmlns:a="http://schemas.openxmlformats.org/drawingml/2006/main">
            <a:srgbClr val="E4F3E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304869E-9E1F-4ACF-AA4C-9894E5C969E6}"/>
              </a:ext>
            </a:extLst>
          </p:cNvPr>
          <p:cNvSpPr>
            <a:spLocks xmlns:a="http://schemas.openxmlformats.org/drawingml/2006/main" noGrp="1"/>
          </p:cNvSpPr>
          <p:nvPr/>
        </p:nvSpPr>
        <p:spPr>
          <a:xfrm xmlns:a="http://schemas.openxmlformats.org/drawingml/2006/main">
            <a:off x="-1143000" y="5429250"/>
            <a:ext cx="2857500" cy="2095500"/>
          </a:xfrm>
          <a:prstGeom xmlns:a="http://schemas.openxmlformats.org/drawingml/2006/main" prst="ellipse">
            <a:avLst/>
          </a:prstGeom>
          <a:solidFill xmlns:a="http://schemas.openxmlformats.org/drawingml/2006/main">
            <a:srgbClr val="F5E7C8"/>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F68F8A3-6D02-4095-9B32-F3846A7760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4706"/>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C7DE550-621E-4E6C-8345-4ADD439AEEEE}"/>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CONCLUSION</a:t>
            </a:r>
          </a:p>
        </p:txBody>
      </p:sp>
      <p:sp>
        <p:nvSpPr>
          <p:cNvPr id="6" name="">
            <a:extLst xmlns:a="http://schemas.openxmlformats.org/drawingml/2006/main">
              <a:ext uri="{FF2B5EF4-FFF2-40B4-BE49-F238E27FC236}">
                <a16:creationId xmlns:a16="http://schemas.microsoft.com/office/drawing/2014/main" id="{CBEAAB53-8C99-48B9-830C-E94C243CF11A}"/>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05 / 05</a:t>
            </a:r>
          </a:p>
        </p:txBody>
      </p:sp>
      <p:sp>
        <p:nvSpPr>
          <p:cNvPr id="7" name="">
            <a:extLst xmlns:a="http://schemas.openxmlformats.org/drawingml/2006/main">
              <a:ext uri="{FF2B5EF4-FFF2-40B4-BE49-F238E27FC236}">
                <a16:creationId xmlns:a16="http://schemas.microsoft.com/office/drawing/2014/main" id="{905C49A5-41AF-435F-936B-BCE6CBB469CC}"/>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70EA5EA-B422-44ED-B76B-A818F59A074B}"/>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9" name="">
            <a:extLst xmlns:a="http://schemas.openxmlformats.org/drawingml/2006/main">
              <a:ext uri="{FF2B5EF4-FFF2-40B4-BE49-F238E27FC236}">
                <a16:creationId xmlns:a16="http://schemas.microsoft.com/office/drawing/2014/main" id="{5456409D-628F-4E63-B285-895FE5AAAB56}"/>
              </a:ext>
            </a:extLst>
          </p:cNvPr>
          <p:cNvSpPr>
            <a:spLocks xmlns:a="http://schemas.openxmlformats.org/drawingml/2006/main" noGrp="1"/>
          </p:cNvSpPr>
          <p:nvPr/>
        </p:nvSpPr>
        <p:spPr>
          <a:xfrm xmlns:a="http://schemas.openxmlformats.org/drawingml/2006/main">
            <a:off x="609600" y="819150"/>
            <a:ext cx="8572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Initial Story: Housing Price Behaves Like A Ladder</a:t>
            </a:r>
          </a:p>
        </p:txBody>
      </p:sp>
      <p:sp>
        <p:nvSpPr>
          <p:cNvPr id="10" name="">
            <a:extLst xmlns:a="http://schemas.openxmlformats.org/drawingml/2006/main">
              <a:ext uri="{FF2B5EF4-FFF2-40B4-BE49-F238E27FC236}">
                <a16:creationId xmlns:a16="http://schemas.microsoft.com/office/drawing/2014/main" id="{A2A71ABF-45FB-4B66-8353-45CD5FF269D1}"/>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Use this as a first pricing narrative, then improve it with richer market context.</a:t>
            </a:r>
          </a:p>
        </p:txBody>
      </p:sp>
      <p:sp>
        <p:nvSpPr>
          <p:cNvPr id="11" name="">
            <a:extLst xmlns:a="http://schemas.openxmlformats.org/drawingml/2006/main">
              <a:ext uri="{FF2B5EF4-FFF2-40B4-BE49-F238E27FC236}">
                <a16:creationId xmlns:a16="http://schemas.microsoft.com/office/drawing/2014/main" id="{9376F45B-2932-4CFD-955C-87D643F2CB08}"/>
              </a:ext>
            </a:extLst>
          </p:cNvPr>
          <p:cNvSpPr>
            <a:spLocks xmlns:a="http://schemas.openxmlformats.org/drawingml/2006/main" noGrp="1"/>
          </p:cNvSpPr>
          <p:nvPr/>
        </p:nvSpPr>
        <p:spPr>
          <a:xfrm xmlns:a="http://schemas.openxmlformats.org/drawingml/2006/main">
            <a:off x="800100" y="2609850"/>
            <a:ext cx="3314700" cy="2000250"/>
          </a:xfrm>
          <a:prstGeom xmlns:a="http://schemas.openxmlformats.org/drawingml/2006/main" prst="roundRect">
            <a:avLst>
              <a:gd name="adj" fmla="val 3810"/>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2" name="">
            <a:extLst xmlns:a="http://schemas.openxmlformats.org/drawingml/2006/main">
              <a:ext uri="{FF2B5EF4-FFF2-40B4-BE49-F238E27FC236}">
                <a16:creationId xmlns:a16="http://schemas.microsoft.com/office/drawing/2014/main" id="{8F1E36B3-A5E2-489A-969F-C412CBA8832F}"/>
              </a:ext>
            </a:extLst>
          </p:cNvPr>
          <p:cNvSpPr>
            <a:spLocks xmlns:a="http://schemas.openxmlformats.org/drawingml/2006/main" noGrp="1"/>
          </p:cNvSpPr>
          <p:nvPr/>
        </p:nvSpPr>
        <p:spPr>
          <a:xfrm xmlns:a="http://schemas.openxmlformats.org/drawingml/2006/main">
            <a:off x="800100" y="2609850"/>
            <a:ext cx="76200" cy="200025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C946C52-02E4-4356-99B6-A67A7BE24A16}"/>
              </a:ext>
            </a:extLst>
          </p:cNvPr>
          <p:cNvSpPr>
            <a:spLocks xmlns:a="http://schemas.openxmlformats.org/drawingml/2006/main" noGrp="1"/>
          </p:cNvSpPr>
          <p:nvPr/>
        </p:nvSpPr>
        <p:spPr>
          <a:xfrm xmlns:a="http://schemas.openxmlformats.org/drawingml/2006/main">
            <a:off x="1009650" y="28384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4" name="">
            <a:extLst xmlns:a="http://schemas.openxmlformats.org/drawingml/2006/main">
              <a:ext uri="{FF2B5EF4-FFF2-40B4-BE49-F238E27FC236}">
                <a16:creationId xmlns:a16="http://schemas.microsoft.com/office/drawing/2014/main" id="{7D96CE54-43F2-45FD-A360-6BAD6E8B0A61}"/>
              </a:ext>
            </a:extLst>
          </p:cNvPr>
          <p:cNvSpPr>
            <a:spLocks xmlns:a="http://schemas.openxmlformats.org/drawingml/2006/main" noGrp="1"/>
          </p:cNvSpPr>
          <p:nvPr/>
        </p:nvSpPr>
        <p:spPr>
          <a:xfrm xmlns:a="http://schemas.openxmlformats.org/drawingml/2006/main">
            <a:off x="1162050" y="31146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03F9A88C-E5BD-466D-AB33-5A4F2B16641D}"/>
              </a:ext>
            </a:extLst>
          </p:cNvPr>
          <p:cNvSpPr>
            <a:spLocks xmlns:a="http://schemas.openxmlformats.org/drawingml/2006/main" noGrp="1"/>
          </p:cNvSpPr>
          <p:nvPr/>
        </p:nvSpPr>
        <p:spPr>
          <a:xfrm xmlns:a="http://schemas.openxmlformats.org/drawingml/2006/main">
            <a:off x="1247775" y="30384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92099E0-3741-4229-AFFF-FD541D859D62}"/>
              </a:ext>
            </a:extLst>
          </p:cNvPr>
          <p:cNvSpPr>
            <a:spLocks xmlns:a="http://schemas.openxmlformats.org/drawingml/2006/main" noGrp="1"/>
          </p:cNvSpPr>
          <p:nvPr/>
        </p:nvSpPr>
        <p:spPr>
          <a:xfrm xmlns:a="http://schemas.openxmlformats.org/drawingml/2006/main">
            <a:off x="1333500" y="29718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59A262B-52D3-4663-9FE7-BDE523ABA5A1}"/>
              </a:ext>
            </a:extLst>
          </p:cNvPr>
          <p:cNvSpPr>
            <a:spLocks xmlns:a="http://schemas.openxmlformats.org/drawingml/2006/main" noGrp="1"/>
          </p:cNvSpPr>
          <p:nvPr/>
        </p:nvSpPr>
        <p:spPr>
          <a:xfrm xmlns:a="http://schemas.openxmlformats.org/drawingml/2006/main">
            <a:off x="1638300" y="28194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Base Value</a:t>
            </a:r>
          </a:p>
        </p:txBody>
      </p:sp>
      <p:sp>
        <p:nvSpPr>
          <p:cNvPr id="18" name="">
            <a:extLst xmlns:a="http://schemas.openxmlformats.org/drawingml/2006/main">
              <a:ext uri="{FF2B5EF4-FFF2-40B4-BE49-F238E27FC236}">
                <a16:creationId xmlns:a16="http://schemas.microsoft.com/office/drawing/2014/main" id="{520D85D8-9F85-4D7B-9725-4A12223A1177}"/>
              </a:ext>
            </a:extLst>
          </p:cNvPr>
          <p:cNvSpPr>
            <a:spLocks xmlns:a="http://schemas.openxmlformats.org/drawingml/2006/main" noGrp="1"/>
          </p:cNvSpPr>
          <p:nvPr/>
        </p:nvSpPr>
        <p:spPr>
          <a:xfrm xmlns:a="http://schemas.openxmlformats.org/drawingml/2006/main">
            <a:off x="1028700" y="3429000"/>
            <a:ext cx="28575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214"/>
                </a:solidFill>
              </a:defRPr>
            </a:pPr>
            <a:r>
              <a:rPr sz="1275" b="0">
                <a:solidFill>
                  <a:srgbClr val="101214"/>
                </a:solidFill>
              </a:rPr>
              <a:t>Area and bathrooms establish</a:t>
            </a:r>
          </a:p>
          <a:p xmlns:a="http://schemas.openxmlformats.org/drawingml/2006/main">
            <a:pPr algn="l">
              <a:defRPr sz="1275" b="0">
                <a:solidFill>
                  <a:srgbClr val="101214"/>
                </a:solidFill>
              </a:defRPr>
            </a:pPr>
            <a:r>
              <a:rPr sz="1275" b="0">
                <a:solidFill>
                  <a:srgbClr val="101214"/>
                </a:solidFill>
              </a:rPr>
              <a:t>the first pricing layer.</a:t>
            </a:r>
          </a:p>
          <a:p xmlns:a="http://schemas.openxmlformats.org/drawingml/2006/main">
            <a:pPr algn="l">
              <a:defRPr sz="1275" b="0">
                <a:solidFill>
                  <a:srgbClr val="101214"/>
                </a:solidFill>
              </a:defRPr>
            </a:pPr>
            <a:r>
              <a:rPr sz="1275" b="0">
                <a:solidFill>
                  <a:srgbClr val="101214"/>
                </a:solidFill>
              </a:rPr>
              <a:t>Bigger, more functional</a:t>
            </a:r>
          </a:p>
          <a:p xmlns:a="http://schemas.openxmlformats.org/drawingml/2006/main">
            <a:pPr algn="l">
              <a:defRPr sz="1275" b="0">
                <a:solidFill>
                  <a:srgbClr val="101214"/>
                </a:solidFill>
              </a:defRPr>
            </a:pPr>
            <a:r>
              <a:rPr sz="1275" b="0">
                <a:solidFill>
                  <a:srgbClr val="101214"/>
                </a:solidFill>
              </a:rPr>
              <a:t>homes start higher on the</a:t>
            </a:r>
          </a:p>
          <a:p xmlns:a="http://schemas.openxmlformats.org/drawingml/2006/main">
            <a:pPr algn="l">
              <a:defRPr sz="1275" b="0">
                <a:solidFill>
                  <a:srgbClr val="101214"/>
                </a:solidFill>
              </a:defRPr>
            </a:pPr>
            <a:r>
              <a:rPr sz="1275" b="0">
                <a:solidFill>
                  <a:srgbClr val="101214"/>
                </a:solidFill>
              </a:rPr>
              <a:t>ladder.</a:t>
            </a:r>
          </a:p>
        </p:txBody>
      </p:sp>
      <p:sp>
        <p:nvSpPr>
          <p:cNvPr id="19" name="">
            <a:extLst xmlns:a="http://schemas.openxmlformats.org/drawingml/2006/main">
              <a:ext uri="{FF2B5EF4-FFF2-40B4-BE49-F238E27FC236}">
                <a16:creationId xmlns:a16="http://schemas.microsoft.com/office/drawing/2014/main" id="{169CA47D-A8D9-4EB0-92C9-04472F24AEE1}"/>
              </a:ext>
            </a:extLst>
          </p:cNvPr>
          <p:cNvSpPr>
            <a:spLocks xmlns:a="http://schemas.openxmlformats.org/drawingml/2006/main" noGrp="1"/>
          </p:cNvSpPr>
          <p:nvPr/>
        </p:nvSpPr>
        <p:spPr>
          <a:xfrm xmlns:a="http://schemas.openxmlformats.org/drawingml/2006/main">
            <a:off x="4438650" y="2609850"/>
            <a:ext cx="3314700" cy="2000250"/>
          </a:xfrm>
          <a:prstGeom xmlns:a="http://schemas.openxmlformats.org/drawingml/2006/main" prst="roundRect">
            <a:avLst>
              <a:gd name="adj" fmla="val 3810"/>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0" name="">
            <a:extLst xmlns:a="http://schemas.openxmlformats.org/drawingml/2006/main">
              <a:ext uri="{FF2B5EF4-FFF2-40B4-BE49-F238E27FC236}">
                <a16:creationId xmlns:a16="http://schemas.microsoft.com/office/drawing/2014/main" id="{FDBECF84-3060-4C3C-85CC-010598C32759}"/>
              </a:ext>
            </a:extLst>
          </p:cNvPr>
          <p:cNvSpPr>
            <a:spLocks xmlns:a="http://schemas.openxmlformats.org/drawingml/2006/main" noGrp="1"/>
          </p:cNvSpPr>
          <p:nvPr/>
        </p:nvSpPr>
        <p:spPr>
          <a:xfrm xmlns:a="http://schemas.openxmlformats.org/drawingml/2006/main">
            <a:off x="4438650" y="2609850"/>
            <a:ext cx="76200" cy="2000250"/>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D26E1CC-F1F4-4A67-A068-F84FE935F33F}"/>
              </a:ext>
            </a:extLst>
          </p:cNvPr>
          <p:cNvSpPr>
            <a:spLocks xmlns:a="http://schemas.openxmlformats.org/drawingml/2006/main" noGrp="1"/>
          </p:cNvSpPr>
          <p:nvPr/>
        </p:nvSpPr>
        <p:spPr>
          <a:xfrm xmlns:a="http://schemas.openxmlformats.org/drawingml/2006/main">
            <a:off x="4648200" y="28384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2" name="">
            <a:extLst xmlns:a="http://schemas.openxmlformats.org/drawingml/2006/main">
              <a:ext uri="{FF2B5EF4-FFF2-40B4-BE49-F238E27FC236}">
                <a16:creationId xmlns:a16="http://schemas.microsoft.com/office/drawing/2014/main" id="{49FF9FB3-CEF3-42EC-9034-84BF96F58872}"/>
              </a:ext>
            </a:extLst>
          </p:cNvPr>
          <p:cNvSpPr>
            <a:spLocks xmlns:a="http://schemas.openxmlformats.org/drawingml/2006/main" noGrp="1"/>
          </p:cNvSpPr>
          <p:nvPr/>
        </p:nvSpPr>
        <p:spPr>
          <a:xfrm xmlns:a="http://schemas.openxmlformats.org/drawingml/2006/main">
            <a:off x="4772025" y="2981325"/>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46792515-AF0A-47E2-A033-2BD4C62979E4}"/>
              </a:ext>
            </a:extLst>
          </p:cNvPr>
          <p:cNvSpPr>
            <a:spLocks xmlns:a="http://schemas.openxmlformats.org/drawingml/2006/main" noGrp="1"/>
          </p:cNvSpPr>
          <p:nvPr/>
        </p:nvSpPr>
        <p:spPr>
          <a:xfrm xmlns:a="http://schemas.openxmlformats.org/drawingml/2006/main">
            <a:off x="4819650" y="30670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24" name="">
            <a:extLst xmlns:a="http://schemas.openxmlformats.org/drawingml/2006/main">
              <a:ext uri="{FF2B5EF4-FFF2-40B4-BE49-F238E27FC236}">
                <a16:creationId xmlns:a16="http://schemas.microsoft.com/office/drawing/2014/main" id="{D534BB15-B5B3-4110-918F-257073111C38}"/>
              </a:ext>
            </a:extLst>
          </p:cNvPr>
          <p:cNvSpPr>
            <a:spLocks xmlns:a="http://schemas.openxmlformats.org/drawingml/2006/main" noGrp="1"/>
          </p:cNvSpPr>
          <p:nvPr/>
        </p:nvSpPr>
        <p:spPr>
          <a:xfrm xmlns:a="http://schemas.openxmlformats.org/drawingml/2006/main">
            <a:off x="4867275" y="31527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25" name="">
            <a:extLst xmlns:a="http://schemas.openxmlformats.org/drawingml/2006/main">
              <a:ext uri="{FF2B5EF4-FFF2-40B4-BE49-F238E27FC236}">
                <a16:creationId xmlns:a16="http://schemas.microsoft.com/office/drawing/2014/main" id="{D09BDFD5-D8ED-4E6D-9D6F-75D754664310}"/>
              </a:ext>
            </a:extLst>
          </p:cNvPr>
          <p:cNvSpPr>
            <a:spLocks xmlns:a="http://schemas.openxmlformats.org/drawingml/2006/main" noGrp="1"/>
          </p:cNvSpPr>
          <p:nvPr/>
        </p:nvSpPr>
        <p:spPr>
          <a:xfrm xmlns:a="http://schemas.openxmlformats.org/drawingml/2006/main">
            <a:off x="5276850" y="28194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Premium Lift</a:t>
            </a:r>
          </a:p>
        </p:txBody>
      </p:sp>
      <p:sp>
        <p:nvSpPr>
          <p:cNvPr id="26" name="">
            <a:extLst xmlns:a="http://schemas.openxmlformats.org/drawingml/2006/main">
              <a:ext uri="{FF2B5EF4-FFF2-40B4-BE49-F238E27FC236}">
                <a16:creationId xmlns:a16="http://schemas.microsoft.com/office/drawing/2014/main" id="{1213AD3D-7265-4551-8CD6-63F404132B31}"/>
              </a:ext>
            </a:extLst>
          </p:cNvPr>
          <p:cNvSpPr>
            <a:spLocks xmlns:a="http://schemas.openxmlformats.org/drawingml/2006/main" noGrp="1"/>
          </p:cNvSpPr>
          <p:nvPr/>
        </p:nvSpPr>
        <p:spPr>
          <a:xfrm xmlns:a="http://schemas.openxmlformats.org/drawingml/2006/main">
            <a:off x="4667250" y="3429000"/>
            <a:ext cx="28575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214"/>
                </a:solidFill>
              </a:defRPr>
            </a:pPr>
            <a:r>
              <a:rPr sz="1275" b="0">
                <a:solidFill>
                  <a:srgbClr val="101214"/>
                </a:solidFill>
              </a:rPr>
              <a:t>Main-road access, air</a:t>
            </a:r>
          </a:p>
          <a:p xmlns:a="http://schemas.openxmlformats.org/drawingml/2006/main">
            <a:pPr algn="l">
              <a:defRPr sz="1275" b="0">
                <a:solidFill>
                  <a:srgbClr val="101214"/>
                </a:solidFill>
              </a:defRPr>
            </a:pPr>
            <a:r>
              <a:rPr sz="1275" b="0">
                <a:solidFill>
                  <a:srgbClr val="101214"/>
                </a:solidFill>
              </a:rPr>
              <a:t>conditioning, preferred</a:t>
            </a:r>
          </a:p>
          <a:p xmlns:a="http://schemas.openxmlformats.org/drawingml/2006/main">
            <a:pPr algn="l">
              <a:defRPr sz="1275" b="0">
                <a:solidFill>
                  <a:srgbClr val="101214"/>
                </a:solidFill>
              </a:defRPr>
            </a:pPr>
            <a:r>
              <a:rPr sz="1275" b="0">
                <a:solidFill>
                  <a:srgbClr val="101214"/>
                </a:solidFill>
              </a:rPr>
              <a:t>area, and furnishing status</a:t>
            </a:r>
          </a:p>
          <a:p xmlns:a="http://schemas.openxmlformats.org/drawingml/2006/main">
            <a:pPr algn="l">
              <a:defRPr sz="1275" b="0">
                <a:solidFill>
                  <a:srgbClr val="101214"/>
                </a:solidFill>
              </a:defRPr>
            </a:pPr>
            <a:r>
              <a:rPr sz="1275" b="0">
                <a:solidFill>
                  <a:srgbClr val="101214"/>
                </a:solidFill>
              </a:rPr>
              <a:t>push homes toward the</a:t>
            </a:r>
          </a:p>
          <a:p xmlns:a="http://schemas.openxmlformats.org/drawingml/2006/main">
            <a:pPr algn="l">
              <a:defRPr sz="1275" b="0">
                <a:solidFill>
                  <a:srgbClr val="101214"/>
                </a:solidFill>
              </a:defRPr>
            </a:pPr>
            <a:r>
              <a:rPr sz="1275" b="0">
                <a:solidFill>
                  <a:srgbClr val="101214"/>
                </a:solidFill>
              </a:rPr>
              <a:t>premium segment.</a:t>
            </a:r>
          </a:p>
        </p:txBody>
      </p:sp>
      <p:sp>
        <p:nvSpPr>
          <p:cNvPr id="27" name="">
            <a:extLst xmlns:a="http://schemas.openxmlformats.org/drawingml/2006/main">
              <a:ext uri="{FF2B5EF4-FFF2-40B4-BE49-F238E27FC236}">
                <a16:creationId xmlns:a16="http://schemas.microsoft.com/office/drawing/2014/main" id="{06A4D037-3ACA-4F1F-8762-5FC958867AC9}"/>
              </a:ext>
            </a:extLst>
          </p:cNvPr>
          <p:cNvSpPr>
            <a:spLocks xmlns:a="http://schemas.openxmlformats.org/drawingml/2006/main" noGrp="1"/>
          </p:cNvSpPr>
          <p:nvPr/>
        </p:nvSpPr>
        <p:spPr>
          <a:xfrm xmlns:a="http://schemas.openxmlformats.org/drawingml/2006/main">
            <a:off x="8077200" y="2609850"/>
            <a:ext cx="3314700" cy="2000250"/>
          </a:xfrm>
          <a:prstGeom xmlns:a="http://schemas.openxmlformats.org/drawingml/2006/main" prst="roundRect">
            <a:avLst>
              <a:gd name="adj" fmla="val 3810"/>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8" name="">
            <a:extLst xmlns:a="http://schemas.openxmlformats.org/drawingml/2006/main">
              <a:ext uri="{FF2B5EF4-FFF2-40B4-BE49-F238E27FC236}">
                <a16:creationId xmlns:a16="http://schemas.microsoft.com/office/drawing/2014/main" id="{4560249A-72D5-4B80-83AB-8403E9C8A308}"/>
              </a:ext>
            </a:extLst>
          </p:cNvPr>
          <p:cNvSpPr>
            <a:spLocks xmlns:a="http://schemas.openxmlformats.org/drawingml/2006/main" noGrp="1"/>
          </p:cNvSpPr>
          <p:nvPr/>
        </p:nvSpPr>
        <p:spPr>
          <a:xfrm xmlns:a="http://schemas.openxmlformats.org/drawingml/2006/main">
            <a:off x="8077200" y="2609850"/>
            <a:ext cx="76200" cy="2000250"/>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3F5D8AA-41D0-4F4A-B721-B610579E7FEC}"/>
              </a:ext>
            </a:extLst>
          </p:cNvPr>
          <p:cNvSpPr>
            <a:spLocks xmlns:a="http://schemas.openxmlformats.org/drawingml/2006/main" noGrp="1"/>
          </p:cNvSpPr>
          <p:nvPr/>
        </p:nvSpPr>
        <p:spPr>
          <a:xfrm xmlns:a="http://schemas.openxmlformats.org/drawingml/2006/main">
            <a:off x="8286750" y="28384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30" name="">
            <a:extLst xmlns:a="http://schemas.openxmlformats.org/drawingml/2006/main">
              <a:ext uri="{FF2B5EF4-FFF2-40B4-BE49-F238E27FC236}">
                <a16:creationId xmlns:a16="http://schemas.microsoft.com/office/drawing/2014/main" id="{D1EFA9AA-97B1-4083-A521-500492243189}"/>
              </a:ext>
            </a:extLst>
          </p:cNvPr>
          <p:cNvSpPr>
            <a:spLocks xmlns:a="http://schemas.openxmlformats.org/drawingml/2006/main" noGrp="1"/>
          </p:cNvSpPr>
          <p:nvPr/>
        </p:nvSpPr>
        <p:spPr>
          <a:xfrm xmlns:a="http://schemas.openxmlformats.org/drawingml/2006/main">
            <a:off x="8410575" y="3009900"/>
            <a:ext cx="95250" cy="95250"/>
          </a:xfrm>
          <a:prstGeom xmlns:a="http://schemas.openxmlformats.org/drawingml/2006/main" prst="ellipse">
            <a:avLst/>
          </a:prstGeom>
          <a:solidFill xmlns:a="http://schemas.openxmlformats.org/drawingml/2006/main">
            <a:srgbClr val="E86F5B"/>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EA36CC90-7B22-4FA9-8ABA-D04644483DAE}"/>
              </a:ext>
            </a:extLst>
          </p:cNvPr>
          <p:cNvSpPr>
            <a:spLocks xmlns:a="http://schemas.openxmlformats.org/drawingml/2006/main" noGrp="1"/>
          </p:cNvSpPr>
          <p:nvPr/>
        </p:nvSpPr>
        <p:spPr>
          <a:xfrm xmlns:a="http://schemas.openxmlformats.org/drawingml/2006/main">
            <a:off x="8582025" y="3095625"/>
            <a:ext cx="95250" cy="95250"/>
          </a:xfrm>
          <a:prstGeom xmlns:a="http://schemas.openxmlformats.org/drawingml/2006/main" prst="ellipse">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4C77BDA5-7C0D-4069-82E8-D7A1E1E5E5EA}"/>
              </a:ext>
            </a:extLst>
          </p:cNvPr>
          <p:cNvSpPr>
            <a:spLocks xmlns:a="http://schemas.openxmlformats.org/drawingml/2006/main" noGrp="1"/>
          </p:cNvSpPr>
          <p:nvPr/>
        </p:nvSpPr>
        <p:spPr>
          <a:xfrm xmlns:a="http://schemas.openxmlformats.org/drawingml/2006/main">
            <a:off x="8496300" y="30765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BDA75B89-4ED4-4C51-98E0-63C81F084CD8}"/>
              </a:ext>
            </a:extLst>
          </p:cNvPr>
          <p:cNvSpPr>
            <a:spLocks xmlns:a="http://schemas.openxmlformats.org/drawingml/2006/main" noGrp="1"/>
          </p:cNvSpPr>
          <p:nvPr/>
        </p:nvSpPr>
        <p:spPr>
          <a:xfrm xmlns:a="http://schemas.openxmlformats.org/drawingml/2006/main">
            <a:off x="8915400" y="28194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Next Step</a:t>
            </a:r>
          </a:p>
        </p:txBody>
      </p:sp>
      <p:sp>
        <p:nvSpPr>
          <p:cNvPr id="34" name="">
            <a:extLst xmlns:a="http://schemas.openxmlformats.org/drawingml/2006/main">
              <a:ext uri="{FF2B5EF4-FFF2-40B4-BE49-F238E27FC236}">
                <a16:creationId xmlns:a16="http://schemas.microsoft.com/office/drawing/2014/main" id="{9C68D101-D6DA-4FF5-A995-2E5CC9D6AAB6}"/>
              </a:ext>
            </a:extLst>
          </p:cNvPr>
          <p:cNvSpPr>
            <a:spLocks xmlns:a="http://schemas.openxmlformats.org/drawingml/2006/main" noGrp="1"/>
          </p:cNvSpPr>
          <p:nvPr/>
        </p:nvSpPr>
        <p:spPr>
          <a:xfrm xmlns:a="http://schemas.openxmlformats.org/drawingml/2006/main">
            <a:off x="8305800" y="3429000"/>
            <a:ext cx="28575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01214"/>
                </a:solidFill>
              </a:defRPr>
            </a:pPr>
            <a:r>
              <a:rPr sz="1275" b="0">
                <a:solidFill>
                  <a:srgbClr val="101214"/>
                </a:solidFill>
              </a:rPr>
              <a:t>Add time and location detail</a:t>
            </a:r>
          </a:p>
          <a:p xmlns:a="http://schemas.openxmlformats.org/drawingml/2006/main">
            <a:pPr algn="l">
              <a:defRPr sz="1275" b="0">
                <a:solidFill>
                  <a:srgbClr val="101214"/>
                </a:solidFill>
              </a:defRPr>
            </a:pPr>
            <a:r>
              <a:rPr sz="1275" b="0">
                <a:solidFill>
                  <a:srgbClr val="101214"/>
                </a:solidFill>
              </a:rPr>
              <a:t>to turn this from an initial</a:t>
            </a:r>
          </a:p>
          <a:p xmlns:a="http://schemas.openxmlformats.org/drawingml/2006/main">
            <a:pPr algn="l">
              <a:defRPr sz="1275" b="0">
                <a:solidFill>
                  <a:srgbClr val="101214"/>
                </a:solidFill>
              </a:defRPr>
            </a:pPr>
            <a:r>
              <a:rPr sz="1275" b="0">
                <a:solidFill>
                  <a:srgbClr val="101214"/>
                </a:solidFill>
              </a:rPr>
              <a:t>pricing story into a</a:t>
            </a:r>
          </a:p>
          <a:p xmlns:a="http://schemas.openxmlformats.org/drawingml/2006/main">
            <a:pPr algn="l">
              <a:defRPr sz="1275" b="0">
                <a:solidFill>
                  <a:srgbClr val="101214"/>
                </a:solidFill>
              </a:defRPr>
            </a:pPr>
            <a:r>
              <a:rPr sz="1275" b="0">
                <a:solidFill>
                  <a:srgbClr val="101214"/>
                </a:solidFill>
              </a:rPr>
              <a:t>stronger valuation model.</a:t>
            </a:r>
          </a:p>
        </p:txBody>
      </p:sp>
      <p:sp>
        <p:nvSpPr>
          <p:cNvPr id="35" name="">
            <a:extLst xmlns:a="http://schemas.openxmlformats.org/drawingml/2006/main">
              <a:ext uri="{FF2B5EF4-FFF2-40B4-BE49-F238E27FC236}">
                <a16:creationId xmlns:a16="http://schemas.microsoft.com/office/drawing/2014/main" id="{600E8D87-8FAC-48B3-A3A6-4BE199D7D817}"/>
              </a:ext>
            </a:extLst>
          </p:cNvPr>
          <p:cNvSpPr>
            <a:spLocks xmlns:a="http://schemas.openxmlformats.org/drawingml/2006/main" noGrp="1"/>
          </p:cNvSpPr>
          <p:nvPr/>
        </p:nvSpPr>
        <p:spPr>
          <a:xfrm xmlns:a="http://schemas.openxmlformats.org/drawingml/2006/main">
            <a:off x="800100" y="4953000"/>
            <a:ext cx="10591800" cy="1047750"/>
          </a:xfrm>
          <a:prstGeom xmlns:a="http://schemas.openxmlformats.org/drawingml/2006/main" prst="roundRect">
            <a:avLst>
              <a:gd name="adj" fmla="val 7273"/>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36" name="">
            <a:extLst xmlns:a="http://schemas.openxmlformats.org/drawingml/2006/main">
              <a:ext uri="{FF2B5EF4-FFF2-40B4-BE49-F238E27FC236}">
                <a16:creationId xmlns:a16="http://schemas.microsoft.com/office/drawing/2014/main" id="{1FEDBB07-6CD5-4D01-BB92-BEBA2078331B}"/>
              </a:ext>
            </a:extLst>
          </p:cNvPr>
          <p:cNvSpPr>
            <a:spLocks xmlns:a="http://schemas.openxmlformats.org/drawingml/2006/main" noGrp="1"/>
          </p:cNvSpPr>
          <p:nvPr/>
        </p:nvSpPr>
        <p:spPr>
          <a:xfrm xmlns:a="http://schemas.openxmlformats.org/drawingml/2006/main">
            <a:off x="1066800" y="5219700"/>
            <a:ext cx="1619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68.2%</a:t>
            </a:r>
          </a:p>
        </p:txBody>
      </p:sp>
      <p:sp>
        <p:nvSpPr>
          <p:cNvPr id="37" name="">
            <a:extLst xmlns:a="http://schemas.openxmlformats.org/drawingml/2006/main">
              <a:ext uri="{FF2B5EF4-FFF2-40B4-BE49-F238E27FC236}">
                <a16:creationId xmlns:a16="http://schemas.microsoft.com/office/drawing/2014/main" id="{F7EEFBA8-5ECE-424C-A9BA-26E2D7A8E5BA}"/>
              </a:ext>
            </a:extLst>
          </p:cNvPr>
          <p:cNvSpPr>
            <a:spLocks xmlns:a="http://schemas.openxmlformats.org/drawingml/2006/main" noGrp="1"/>
          </p:cNvSpPr>
          <p:nvPr/>
        </p:nvSpPr>
        <p:spPr>
          <a:xfrm xmlns:a="http://schemas.openxmlformats.org/drawingml/2006/main">
            <a:off x="2857500" y="5181600"/>
            <a:ext cx="8191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0363A"/>
                </a:solidFill>
              </a:defRPr>
            </a:pPr>
            <a:r>
              <a:rPr sz="1350" b="0">
                <a:solidFill>
                  <a:srgbClr val="30363A"/>
                </a:solidFill>
              </a:rPr>
              <a:t>of price variation is explained by a simple all-features linear read, which is strong for a first pass but not enough for final valuation.</a:t>
            </a:r>
          </a:p>
        </p:txBody>
      </p:sp>
      <p:sp>
        <p:nvSpPr>
          <p:cNvPr id="38" name="">
            <a:extLst xmlns:a="http://schemas.openxmlformats.org/drawingml/2006/main">
              <a:ext uri="{FF2B5EF4-FFF2-40B4-BE49-F238E27FC236}">
                <a16:creationId xmlns:a16="http://schemas.microsoft.com/office/drawing/2014/main" id="{72AF65AA-8651-48CC-911B-79249A5196D5}"/>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Source: Housing.xlsx | Prices shown in millions</a:t>
            </a:r>
          </a:p>
        </p:txBody>
      </p:sp>
    </p:spTree>
    <p:extLst>
      <p:ext uri="{BB962C8B-B14F-4D97-AF65-F5344CB8AC3E}">
        <p14:creationId xmlns:p14="http://schemas.microsoft.com/office/powerpoint/2010/main" val="8124780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2026-04-18T20:53:44.2170000Z</dcterms:created>
  <dcterms:modified xsi:type="dcterms:W3CDTF">2026-04-18T20:53:44.2170000Z</dcterms:modified>
</coreProperties>
</file>